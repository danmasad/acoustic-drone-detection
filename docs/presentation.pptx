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2"/>
  </p:normalViewPr>
  <p:slideViewPr>
    <p:cSldViewPr snapToGrid="0" snapToObjects="1">
      <p:cViewPr varScale="1">
        <p:scale>
          <a:sx n="96" d="100"/>
          <a:sy n="96" d="100"/>
        </p:scale>
        <p:origin x="10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D2E6A-3C31-A441-8CE1-C55D5F819A35}" type="datetimeFigureOut">
              <a:rPr lang="en-IL" smtClean="0"/>
              <a:t>15/10/2026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0A9C20-315A-7742-ACCE-44FDADE5B32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65975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56666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238091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88344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01837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22988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92667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51251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090499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27992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30740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875444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Dan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109502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Shai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0A9C20-315A-7742-ACCE-44FDADE5B325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57695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41732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60A5FA"/>
                </a:solidFill>
                <a:latin typeface="Helvetica Neue"/>
              </a:rPr>
              <a:t>DEEP LEARNING 2026B  ·  APPLIED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56692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1" i="0">
                <a:solidFill>
                  <a:srgbClr val="F5F5F4"/>
                </a:solidFill>
                <a:latin typeface="Helvetica Neue"/>
              </a:rPr>
              <a:t>Acoustic Drone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1" i="0">
                <a:solidFill>
                  <a:srgbClr val="F5F5F4"/>
                </a:solidFill>
                <a:latin typeface="Helvetica Neue"/>
              </a:rPr>
              <a:t>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77639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F5F5F4"/>
                </a:solidFill>
                <a:latin typeface="Helvetica Neue"/>
              </a:rPr>
              <a:t>Shai Livshits  · 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70832"/>
            <a:ext cx="5394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 i="0">
                <a:solidFill>
                  <a:srgbClr val="78716C"/>
                </a:solidFill>
                <a:latin typeface="Helvetica Neue"/>
              </a:rPr>
              <a:t>12 October 2026</a:t>
            </a:r>
          </a:p>
        </p:txBody>
      </p:sp>
      <p:pic>
        <p:nvPicPr>
          <p:cNvPr id="6" name="Picture 5" descr="flight_hemisphere_mar18_f2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54480"/>
            <a:ext cx="4937760" cy="3356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A drone on a wire is silent to every sensor but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2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Fibre-optic FPV drones radiate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9202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DC2626"/>
                </a:solidFill>
                <a:latin typeface="Helvetica Neue"/>
              </a:rPr>
              <a:t>RADIO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128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C1917"/>
                </a:solidFill>
                <a:latin typeface="Helvetica Neue"/>
              </a:rPr>
              <a:t>Nothing to hear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889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No link. Nothing to scan, nothing to jam.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7830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1688" y="19202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DC2626"/>
                </a:solidFill>
                <a:latin typeface="Helvetica Neue"/>
              </a:rPr>
              <a:t>RADAR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2128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C1917"/>
                </a:solidFill>
                <a:latin typeface="Helvetica Neue"/>
              </a:rPr>
              <a:t>Too small, too 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7889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Plastic, sub-metre, in the ground clutter.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7830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19202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DC2626"/>
                </a:solidFill>
                <a:latin typeface="Helvetica Neue"/>
              </a:rPr>
              <a:t>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22128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C1917"/>
                </a:solidFill>
                <a:latin typeface="Helvetica Neue"/>
              </a:rPr>
              <a:t>Too 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27889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A few pixels. Gone at night or in fog.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40480"/>
            <a:ext cx="11155680" cy="242316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WHAT IT CANNOT SWITCH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0832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 i="0">
                <a:solidFill>
                  <a:srgbClr val="F5F5F4"/>
                </a:solidFill>
                <a:latin typeface="Helvetica Neue"/>
              </a:rPr>
              <a:t>Rotors are loud, tonal, and heard from every direction.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0" i="0">
                <a:solidFill>
                  <a:srgbClr val="F5F5F4"/>
                </a:solidFill>
                <a:latin typeface="Helvetica Neue"/>
              </a:rPr>
              <a:t>Listening is passive.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0233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OUR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370832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 b="0" i="0">
                <a:solidFill>
                  <a:srgbClr val="60A5FA"/>
                </a:solidFill>
                <a:latin typeface="Helvetica Neue"/>
              </a:rPr>
              <a:t>●  </a:t>
            </a:r>
            <a:r>
              <a:rPr sz="1600" b="0" i="0">
                <a:solidFill>
                  <a:srgbClr val="F5F5F4"/>
                </a:solidFill>
                <a:latin typeface="Helvetica Neue"/>
              </a:rPr>
              <a:t>Microphones hear the same sound with small delays.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 b="0" i="0">
                <a:solidFill>
                  <a:srgbClr val="60A5FA"/>
                </a:solidFill>
                <a:latin typeface="Helvetica Neue"/>
              </a:rPr>
              <a:t>●  </a:t>
            </a:r>
            <a:r>
              <a:rPr sz="1600" b="0" i="0">
                <a:solidFill>
                  <a:srgbClr val="F5F5F4"/>
                </a:solidFill>
                <a:latin typeface="Helvetica Neue"/>
              </a:rPr>
              <a:t>Beamforming turns the delays into a map of the sky.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 b="0" i="0">
                <a:solidFill>
                  <a:srgbClr val="60A5FA"/>
                </a:solidFill>
                <a:latin typeface="Helvetica Neue"/>
              </a:rPr>
              <a:t>●  </a:t>
            </a:r>
            <a:r>
              <a:rPr sz="1600" b="0" i="0">
                <a:solidFill>
                  <a:srgbClr val="F5F5F4"/>
                </a:solidFill>
                <a:latin typeface="Helvetica Neue"/>
              </a:rPr>
              <a:t>A network marks the drone on the map, 10× a second.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One drone, two sites, and borrowed quiet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3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Western Sydney University dataset. DJI Air 3, 24 microphones, 48 kHz, GPS at 10 Hz.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737360"/>
            <a:ext cx="21214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Drone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1737360"/>
            <a:ext cx="23042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19" y="1737360"/>
            <a:ext cx="46817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Role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103120"/>
            <a:ext cx="11155680" cy="0"/>
          </a:xfrm>
          <a:prstGeom prst="line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219456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94560"/>
            <a:ext cx="212140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52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194560"/>
            <a:ext cx="23042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Site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19" y="2194560"/>
            <a:ext cx="46817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Fit the weights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259689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265176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Test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651760"/>
            <a:ext cx="212140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20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651760"/>
            <a:ext cx="23042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Site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19" y="2651760"/>
            <a:ext cx="46817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Pick the epoch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05409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10896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Test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108960"/>
            <a:ext cx="212140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79" y="3108960"/>
            <a:ext cx="23042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Second site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19" y="3108960"/>
            <a:ext cx="46817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Sealed. Scored once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65760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NO-DRONE AUDIO: 5 MINUTES IN THE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05072"/>
            <a:ext cx="3520440" cy="2258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" y="4133087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PRE-TAKEOFF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2569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1C1917"/>
                </a:solidFill>
                <a:latin typeface="Helvetica Neue"/>
              </a:rPr>
              <a:t>4.8 → 8.2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029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Mined from the same recordings, before the motors spin up.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0520" y="4005072"/>
            <a:ext cx="3520440" cy="2258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61688" y="4133087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ESC-50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42569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1C1917"/>
                </a:solidFill>
                <a:latin typeface="Helvetica Neue"/>
              </a:rPr>
              <a:t>50 classes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5029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Short everyday sounds, mixed into our quiet frames.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18120" y="4005072"/>
            <a:ext cx="3520440" cy="2258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19288" y="4133087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DEMAND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442569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1C1917"/>
                </a:solidFill>
                <a:latin typeface="Helvetica Neue"/>
              </a:rPr>
              <a:t>18 places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029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90 min of rooms, streets, vehicles. Train on five kinds, score the sixth.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THE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Four recorders, six microphones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4  /  14</a:t>
            </a:r>
          </a:p>
        </p:txBody>
      </p:sp>
      <p:pic>
        <p:nvPicPr>
          <p:cNvPr id="6" name="Picture 5" descr="array_geo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261872"/>
            <a:ext cx="7452360" cy="5133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35331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Colour is the recorder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64208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Purple, blue, teal, yellow. Each is one Zoom recorder, so the six share a clock.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54203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Teal is device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852928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The six we train. 1.09 m across, the outer microphones of one recorder.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30752"/>
            <a:ext cx="3840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The bottom 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041648"/>
            <a:ext cx="38404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Other subsets we drew. Centre is device 3 again.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THE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What the network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5  /  14</a:t>
            </a:r>
          </a:p>
        </p:txBody>
      </p:sp>
      <p:pic>
        <p:nvPicPr>
          <p:cNvPr id="6" name="Picture 5" descr="array_beam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8412480" cy="50484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201168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395728"/>
            <a:ext cx="2651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Every other bright spot is a phantom made by the array.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3749039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Why a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4133087"/>
            <a:ext cx="2651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The brightest pixel can be a phantom. The network reads the whole pattern.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What we tried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6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WHERE WE STARTED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627632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Helvetica Neue"/>
              </a:rPr>
              <a:t>The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956816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Delay-and-sum. Each 100 ms frame becomes 23 by 91 directions, in 16 bands.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17904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9704" y="1627632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Helvetica Neue"/>
              </a:rPr>
              <a:t>The U-Net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956816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The paper's network. It reads that map as an image and paints a mask. The direction is read off the mask.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517904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30184" y="1627632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Helvetica Neue"/>
              </a:rPr>
              <a:t>The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4" y="1956816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The brightest cell of the map itself. No learning, so a gain over it is the network.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54096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1C1917"/>
                </a:solidFill>
                <a:latin typeface="Helvetica Neue"/>
              </a:rPr>
              <a:t>HOW WE TRIED TO GET AN 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" y="3438144"/>
            <a:ext cx="2523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3767328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K past frames stacked as channels. K is 1, 5, or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328416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57016" y="3438144"/>
            <a:ext cx="2523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Six-mic subsets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7016" y="3767328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 greedy sidelobe search, plus simple picks. Device 3 matches all 24.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328416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3096" y="3438144"/>
            <a:ext cx="2523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Two losses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767328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The paper's Tversky against weighted cross-entropy. 63.5% vs 70.1% within 10°.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1160" y="3328416"/>
            <a:ext cx="2788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9176" y="3438144"/>
            <a:ext cx="2523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Disc or grid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9176" y="3767328"/>
            <a:ext cx="25237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 polar disc, zenith in the centre. 69.5% vs 70.1%, so we kept the grid.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46320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" y="495604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Detection, two ways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" y="528523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 presence score on the U-Net. And an 86k network on one microphone, with no array.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4846320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9704" y="495604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More quiet audio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704" y="528523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Pre-takeoff, 4.8 to 8.2 minutes. ESC-50 sounds mixed in. DEMAND places: train on five, score the sixth.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80" y="4846320"/>
            <a:ext cx="36758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30184" y="495604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Kinematic filter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528523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After the U-Net. Based on drone speed limits. Not 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One U-Net, two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7  /  14</a:t>
            </a:r>
          </a:p>
        </p:txBody>
      </p:sp>
      <p:pic>
        <p:nvPicPr>
          <p:cNvPr id="6" name="Picture 5" descr="unet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234440"/>
            <a:ext cx="11795760" cy="48513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We keep the best test-2 hit rate, not the last epoch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8  / 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7588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453895"/>
            <a:ext cx="33467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1" i="0">
                <a:solidFill>
                  <a:srgbClr val="2563EB"/>
                </a:solidFill>
                <a:latin typeface="Helvetica Neue"/>
              </a:rPr>
              <a:t>Adam, 5×10⁻³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47672"/>
            <a:ext cx="3346703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Constant. No weight decay. Batch 32. Batch norm, dropout 0.1.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67588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07992" y="1453895"/>
            <a:ext cx="33467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1" i="0">
                <a:solidFill>
                  <a:srgbClr val="2563EB"/>
                </a:solidFill>
                <a:latin typeface="Helvetica Neue"/>
              </a:rPr>
              <a:t>Weighted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947672"/>
            <a:ext cx="3346703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1.4% of pixels are the drone. Unweighted, empty sky wins.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25880"/>
            <a:ext cx="3675887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48472" y="1453895"/>
            <a:ext cx="33467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200" b="1" i="0">
                <a:solidFill>
                  <a:srgbClr val="2563EB"/>
                </a:solidFill>
                <a:latin typeface="Helvetica Neue"/>
              </a:rPr>
              <a:t>Patience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1947672"/>
            <a:ext cx="3346703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At least 15 epochs, at most 60. Three seeds. Test 1 stays sealed.</a:t>
            </a:r>
          </a:p>
        </p:txBody>
      </p:sp>
      <p:pic>
        <p:nvPicPr>
          <p:cNvPr id="15" name="Picture 14" descr="_training_device3_k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0"/>
            <a:ext cx="11247120" cy="31366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25312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 i="0">
                <a:solidFill>
                  <a:srgbClr val="44403C"/>
                </a:solidFill>
                <a:latin typeface="Helvetica Neue"/>
              </a:rPr>
              <a:t>Device 3, one frame. The dot is the epoch we keep. Solid is training loss, dashed is test 2. The direction stays near 70%. The loss rises because a few confident wrong pixels dominate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RESULTS  ·  THE PAPER'S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Against the paper, on their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9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Mean angular error, matched site, the paper's distance bins. U-Net rows are stable frames; delay-and-sum rows are every frame. Our U-Net cells are the mean of three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413308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09159" y="1920240"/>
            <a:ext cx="13898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20240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0–50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20240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50–100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1920240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100–200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2286000"/>
            <a:ext cx="11155680" cy="0"/>
          </a:xfrm>
          <a:prstGeom prst="line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2377440"/>
            <a:ext cx="41330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Paper, delay-and-sum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377440"/>
            <a:ext cx="13898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matched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3774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38°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3774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75°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3774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33°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277977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2834640"/>
            <a:ext cx="41330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Ours, delay-and-sum,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2834640"/>
            <a:ext cx="13898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8346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40°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8346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72°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8346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31°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323697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3291840"/>
            <a:ext cx="41330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Paper, U-Net, stable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3291840"/>
            <a:ext cx="13898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matched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918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10°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2918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13°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2918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14°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369417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3749039"/>
            <a:ext cx="41330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Ours, U-Net 24, 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3749039"/>
            <a:ext cx="13898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matched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749039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9°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749039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11°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3749039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46°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" y="4151376"/>
            <a:ext cx="11155680" cy="0"/>
          </a:xfrm>
          <a:prstGeom prst="line">
            <a:avLst/>
          </a:prstGeom>
          <a:ln w="7620">
            <a:solidFill>
              <a:srgbClr val="E7E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02920" y="4206240"/>
            <a:ext cx="41330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600" b="1" i="0">
                <a:solidFill>
                  <a:srgbClr val="1C1917"/>
                </a:solidFill>
                <a:latin typeface="Helvetica Neue"/>
              </a:rPr>
              <a:t>Ours, device 3, stable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59" y="4206240"/>
            <a:ext cx="138988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matched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062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9°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42062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11°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4206240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600" b="0" i="0">
                <a:solidFill>
                  <a:srgbClr val="1C1917"/>
                </a:solidFill>
                <a:latin typeface="Helvetica Neue"/>
              </a:rPr>
              <a:t>49°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75488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49011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BOTTOM 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6460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5F5F4"/>
                </a:solidFill>
                <a:latin typeface="Helvetica Neue"/>
              </a:rPr>
              <a:t>We reproduce their performance under 100 m, where the flight is; they lead past 100 m. On this metric device 3 matches all 24.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60720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0" i="0">
                <a:solidFill>
                  <a:srgbClr val="78716C"/>
                </a:solidFill>
                <a:latin typeface="Helvetica Neue"/>
              </a:rPr>
              <a:t>This slide is the paper's benchmark. The next slides score every frame on our own benchmark: the share within 10°.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RESULTS  ·  OUR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History stands in for microphones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10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Within 10°. Left: gain from one frame to nine. Right: device 3 at nine frames, all 24 at one.</a:t>
            </a:r>
          </a:p>
        </p:txBody>
      </p:sp>
      <p:pic>
        <p:nvPicPr>
          <p:cNvPr id="7" name="Picture 6" descr="analysis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7360"/>
            <a:ext cx="10332720" cy="36468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544068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55869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555040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5F5F4"/>
                </a:solidFill>
                <a:latin typeface="Helvetica Neue"/>
              </a:rPr>
              <a:t>Nine frames lift device 3 to the level of all 24, mostly past 60 m. A sidelobe flickers from frame to frame; the true peak stays 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RESULTS  ·  OUR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The filter helps most without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11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Points gained within 10° when the kinematic filter is applied after the network. Test 2.</a:t>
            </a:r>
          </a:p>
        </p:txBody>
      </p:sp>
      <p:pic>
        <p:nvPicPr>
          <p:cNvPr id="7" name="Picture 6" descr="analysis_fil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9692640" cy="33361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20640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All ranges:   </a:t>
            </a:r>
            <a:r>
              <a:rPr sz="1500" b="0" i="0">
                <a:solidFill>
                  <a:srgbClr val="44403C"/>
                </a:solidFill>
                <a:latin typeface="Helvetica Neue"/>
              </a:rPr>
              <a:t>24 mics, 1 frame  70 → 75%   ·   Device 3, 1 frame  69 → 73%   ·   Device 3, 9 frames  73 → 73%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3212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6784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5641848"/>
            <a:ext cx="9052560" cy="5943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5F5F4"/>
                </a:solidFill>
                <a:latin typeface="Helvetica Neue"/>
              </a:rPr>
              <a:t>Highly effective at long range and when the network has no temporal context. Nine frames and the filter use the same window, so they do not add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AFTER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Inside 10°, we follow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12  /  14</a:t>
            </a:r>
          </a:p>
        </p:txBody>
      </p:sp>
      <p:pic>
        <p:nvPicPr>
          <p:cNvPr id="6" name="Picture 5" descr="filter_sky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98448"/>
            <a:ext cx="5852160" cy="39756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298448"/>
            <a:ext cx="53492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65392" y="1463040"/>
            <a:ext cx="4983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The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920240"/>
            <a:ext cx="498348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00" b="0" i="0">
                <a:solidFill>
                  <a:srgbClr val="2563EB"/>
                </a:solidFill>
                <a:latin typeface="Helvetica Neue"/>
              </a:rPr>
              <a:t>●  </a:t>
            </a:r>
            <a:r>
              <a:rPr sz="1700" b="0" i="0">
                <a:solidFill>
                  <a:srgbClr val="44403C"/>
                </a:solidFill>
                <a:latin typeface="Helvetica Neue"/>
              </a:rPr>
              <a:t>A drone has a top speed, so its direction can only change so much between consecutive frames.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00" b="0" i="0">
                <a:solidFill>
                  <a:srgbClr val="2563EB"/>
                </a:solidFill>
                <a:latin typeface="Helvetica Neue"/>
              </a:rPr>
              <a:t>●  </a:t>
            </a:r>
            <a:r>
              <a:rPr sz="1700" b="0" i="0">
                <a:solidFill>
                  <a:srgbClr val="44403C"/>
                </a:solidFill>
                <a:latin typeface="Helvetica Neue"/>
              </a:rPr>
              <a:t>A new direction within 10° of the last one is taken at once. A larger jump is taken only after half a second of agreement.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It learns the recording, not the drone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13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AUROC of the one-microphone detector. 0.5 is chance.</a:t>
            </a:r>
          </a:p>
        </p:txBody>
      </p:sp>
      <p:pic>
        <p:nvPicPr>
          <p:cNvPr id="7" name="Picture 6" descr="analysis_det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37360"/>
            <a:ext cx="6035040" cy="27897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20840" y="1737360"/>
            <a:ext cx="493776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152" y="187451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78716C"/>
                </a:solidFill>
                <a:latin typeface="Helvetica Neue"/>
              </a:rPr>
              <a:t>WHAT ELSE WE TRIED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22860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+ ESC-50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286000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0.49 → 0.59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2615184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Only on the training-site flights.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1152" y="321868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+ DEMAND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21868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−0.03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2" y="35478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Worst held-out fold.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4151376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U-Net presence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4151376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500" b="1" i="0">
                <a:solidFill>
                  <a:srgbClr val="1C1917"/>
                </a:solidFill>
                <a:latin typeface="Helvetica Neue"/>
              </a:rPr>
              <a:t>0.73 / 0.59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44805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44403C"/>
                </a:solidFill>
                <a:latin typeface="Helvetica Neue"/>
              </a:rPr>
              <a:t>All 24 / device 3, same afternoon.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4068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55869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60A5FA"/>
                </a:solidFill>
                <a:latin typeface="Helvetica Neue"/>
              </a:rPr>
              <a:t>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55040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5F5F4"/>
                </a:solidFill>
                <a:latin typeface="Helvetica Neue"/>
              </a:rPr>
              <a:t>The detector studies the environment, not the drone. A new site needs quiet and drone recordings made there.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C1917"/>
                </a:solidFill>
                <a:latin typeface="Helvetica Neue"/>
              </a:rPr>
              <a:t>Time can replace microphones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8412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Acoustic Drone Detection  ·  Shai Livshits &amp; Dan Masad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510528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Helvetica Neue"/>
              </a:rPr>
              <a:t>14  /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16A34A"/>
                </a:solidFill>
                <a:latin typeface="Helvetica Neue"/>
              </a:rPr>
              <a:t>WHAT WE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94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History stands in for microphones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Nine frames let one recorder of six reach the full 24-microphone array.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08960"/>
            <a:ext cx="5394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The filter is an alternative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93008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It lifts single-frame models, but adds nothing on top of temporal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0"/>
            <a:ext cx="5394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1C1917"/>
                </a:solidFill>
                <a:latin typeface="Helvetica Neue"/>
              </a:rPr>
              <a:t>Detection is the open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56048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44403C"/>
                </a:solidFill>
                <a:latin typeface="Helvetica Neue"/>
              </a:rPr>
              <a:t>Drone vs no-drone does not generalize. Few negatives likely bias the numbers.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98448"/>
            <a:ext cx="5394960" cy="493776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4813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1" i="0">
                <a:solidFill>
                  <a:srgbClr val="60A5FA"/>
                </a:solidFill>
                <a:latin typeface="Helvetica Neue"/>
              </a:rPr>
              <a:t>FUTURE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01952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1" i="0">
                <a:solidFill>
                  <a:srgbClr val="F5F5F4"/>
                </a:solidFill>
                <a:latin typeface="Helvetica Neue"/>
              </a:rPr>
              <a:t>More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67712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Helvetica Neue"/>
              </a:rPr>
              <a:t>Longer, more varied ambient noise and clean drone recordings.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80944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1" i="0">
                <a:solidFill>
                  <a:srgbClr val="F5F5F4"/>
                </a:solidFill>
                <a:latin typeface="Helvetica Neue"/>
              </a:rPr>
              <a:t>A better array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46703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Helvetica Neue"/>
              </a:rPr>
              <a:t>Length and geometry matched to the rotor wavelengths.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59935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1" i="0">
                <a:solidFill>
                  <a:srgbClr val="F5F5F4"/>
                </a:solidFill>
                <a:latin typeface="Helvetica Neue"/>
              </a:rPr>
              <a:t>Do the gains hold?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25696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Helvetica Neue"/>
              </a:rPr>
              <a:t>Check history and the filter as base accuracy rises.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138928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1" i="0">
                <a:solidFill>
                  <a:srgbClr val="F5F5F4"/>
                </a:solidFill>
                <a:latin typeface="Helvetica Neue"/>
              </a:rPr>
              <a:t>A fair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50468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Helvetica Neue"/>
              </a:rPr>
              <a:t>Balanced, multi-environment data for an unbiased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1468</Words>
  <Application>Microsoft Macintosh PowerPoint</Application>
  <PresentationFormat>Widescreen</PresentationFormat>
  <Paragraphs>238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Shai Livshits</cp:lastModifiedBy>
  <cp:revision>2</cp:revision>
  <dcterms:created xsi:type="dcterms:W3CDTF">2013-01-27T09:14:16Z</dcterms:created>
  <dcterms:modified xsi:type="dcterms:W3CDTF">2026-10-15T08:15:30Z</dcterms:modified>
  <cp:category/>
</cp:coreProperties>
</file>