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85800" y="1325880"/>
            <a:ext cx="5760720" cy="256032"/>
          </a:xfrm>
          <a:prstGeom prst="rect">
            <a:avLst/>
          </a:prstGeom>
          <a:noFill/>
        </p:spPr>
        <p:txBody>
          <a:bodyPr wrap="square" lIns="0" rIns="0" tIns="0" bIns="0" anchor="t">
            <a:spAutoFit/>
          </a:bodyPr>
          <a:lstStyle/>
          <a:p>
            <a:pPr algn="l">
              <a:lnSpc>
                <a:spcPct val="112000"/>
              </a:lnSpc>
              <a:spcAft>
                <a:spcPts val="600"/>
              </a:spcAft>
            </a:pPr>
            <a:r>
              <a:rPr sz="1200" b="1" i="0">
                <a:solidFill>
                  <a:srgbClr val="60A5FA"/>
                </a:solidFill>
                <a:latin typeface="Helvetica Neue"/>
              </a:rPr>
              <a:t>APPLIED DEEP LEARNING  ·  AUDIO</a:t>
            </a:r>
          </a:p>
        </p:txBody>
      </p:sp>
      <p:sp>
        <p:nvSpPr>
          <p:cNvPr id="3" name="TextBox 2"/>
          <p:cNvSpPr txBox="1"/>
          <p:nvPr/>
        </p:nvSpPr>
        <p:spPr>
          <a:xfrm>
            <a:off x="685800" y="1691640"/>
            <a:ext cx="5577840" cy="1554480"/>
          </a:xfrm>
          <a:prstGeom prst="rect">
            <a:avLst/>
          </a:prstGeom>
          <a:noFill/>
        </p:spPr>
        <p:txBody>
          <a:bodyPr wrap="square" lIns="0" rIns="0" tIns="0" bIns="0" anchor="t">
            <a:spAutoFit/>
          </a:bodyPr>
          <a:lstStyle/>
          <a:p>
            <a:pPr algn="l">
              <a:lnSpc>
                <a:spcPct val="98000"/>
              </a:lnSpc>
              <a:spcAft>
                <a:spcPts val="0"/>
              </a:spcAft>
            </a:pPr>
            <a:r>
              <a:rPr sz="4600" b="1" i="0">
                <a:solidFill>
                  <a:srgbClr val="F5F5F4"/>
                </a:solidFill>
                <a:latin typeface="Helvetica Neue"/>
              </a:rPr>
              <a:t>Hearing drones</a:t>
            </a:r>
          </a:p>
          <a:p>
            <a:pPr algn="l">
              <a:lnSpc>
                <a:spcPct val="98000"/>
              </a:lnSpc>
              <a:spcAft>
                <a:spcPts val="0"/>
              </a:spcAft>
            </a:pPr>
            <a:r>
              <a:rPr sz="4600" b="1" i="0">
                <a:solidFill>
                  <a:srgbClr val="F5F5F4"/>
                </a:solidFill>
                <a:latin typeface="Helvetica Neue"/>
              </a:rPr>
              <a:t>in 3D</a:t>
            </a:r>
          </a:p>
        </p:txBody>
      </p:sp>
      <p:sp>
        <p:nvSpPr>
          <p:cNvPr id="4" name="TextBox 3"/>
          <p:cNvSpPr txBox="1"/>
          <p:nvPr/>
        </p:nvSpPr>
        <p:spPr>
          <a:xfrm>
            <a:off x="685800" y="3703320"/>
            <a:ext cx="5394960" cy="1234440"/>
          </a:xfrm>
          <a:prstGeom prst="rect">
            <a:avLst/>
          </a:prstGeom>
          <a:noFill/>
        </p:spPr>
        <p:txBody>
          <a:bodyPr wrap="square" lIns="0" rIns="0" tIns="0" bIns="0" anchor="t">
            <a:spAutoFit/>
          </a:bodyPr>
          <a:lstStyle/>
          <a:p>
            <a:pPr algn="l">
              <a:lnSpc>
                <a:spcPct val="115000"/>
              </a:lnSpc>
              <a:spcAft>
                <a:spcPts val="600"/>
              </a:spcAft>
            </a:pPr>
            <a:r>
              <a:rPr sz="1800" b="0" i="0">
                <a:solidFill>
                  <a:srgbClr val="A8A29E"/>
                </a:solidFill>
                <a:latin typeface="Helvetica Neue"/>
              </a:rPr>
              <a:t>Six microphones on one recorder match the full array. Extra frames help only where microphones are scarce.</a:t>
            </a:r>
          </a:p>
        </p:txBody>
      </p:sp>
      <p:sp>
        <p:nvSpPr>
          <p:cNvPr id="5" name="TextBox 4"/>
          <p:cNvSpPr txBox="1"/>
          <p:nvPr/>
        </p:nvSpPr>
        <p:spPr>
          <a:xfrm>
            <a:off x="685800" y="5212080"/>
            <a:ext cx="5394960" cy="292608"/>
          </a:xfrm>
          <a:prstGeom prst="rect">
            <a:avLst/>
          </a:prstGeom>
          <a:noFill/>
        </p:spPr>
        <p:txBody>
          <a:bodyPr wrap="square" lIns="0" rIns="0" tIns="0" bIns="0" anchor="t">
            <a:spAutoFit/>
          </a:bodyPr>
          <a:lstStyle/>
          <a:p>
            <a:pPr algn="l">
              <a:lnSpc>
                <a:spcPct val="112000"/>
              </a:lnSpc>
              <a:spcAft>
                <a:spcPts val="600"/>
              </a:spcAft>
            </a:pPr>
            <a:r>
              <a:rPr sz="1600" b="0" i="0">
                <a:solidFill>
                  <a:srgbClr val="F5F5F4"/>
                </a:solidFill>
                <a:latin typeface="Helvetica Neue"/>
              </a:rPr>
              <a:t>Shai Livshits  ·  Dan Masad</a:t>
            </a:r>
          </a:p>
        </p:txBody>
      </p:sp>
      <p:sp>
        <p:nvSpPr>
          <p:cNvPr id="6" name="TextBox 5"/>
          <p:cNvSpPr txBox="1"/>
          <p:nvPr/>
        </p:nvSpPr>
        <p:spPr>
          <a:xfrm>
            <a:off x="685800" y="5577840"/>
            <a:ext cx="5394960" cy="256032"/>
          </a:xfrm>
          <a:prstGeom prst="rect">
            <a:avLst/>
          </a:prstGeom>
          <a:noFill/>
        </p:spPr>
        <p:txBody>
          <a:bodyPr wrap="square" lIns="0" rIns="0" tIns="0" bIns="0" anchor="t">
            <a:spAutoFit/>
          </a:bodyPr>
          <a:lstStyle/>
          <a:p>
            <a:pPr algn="l">
              <a:lnSpc>
                <a:spcPct val="112000"/>
              </a:lnSpc>
              <a:spcAft>
                <a:spcPts val="600"/>
              </a:spcAft>
            </a:pPr>
            <a:r>
              <a:rPr sz="1300" b="0" i="0">
                <a:solidFill>
                  <a:srgbClr val="78716C"/>
                </a:solidFill>
                <a:latin typeface="Helvetica Neue"/>
              </a:rPr>
              <a:t>5 October 2026</a:t>
            </a:r>
          </a:p>
        </p:txBody>
      </p:sp>
      <p:pic>
        <p:nvPicPr>
          <p:cNvPr id="7" name="Picture 6" descr="flight_hemisphere_mar18_f2.gif"/>
          <p:cNvPicPr>
            <a:picLocks noChangeAspect="1"/>
          </p:cNvPicPr>
          <p:nvPr/>
        </p:nvPicPr>
        <p:blipFill>
          <a:blip r:embed="rId2"/>
          <a:stretch>
            <a:fillRect/>
          </a:stretch>
        </p:blipFill>
        <p:spPr>
          <a:xfrm>
            <a:off x="6446520" y="1417320"/>
            <a:ext cx="5074920" cy="345019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640080" y="411480"/>
            <a:ext cx="9144000" cy="274320"/>
          </a:xfrm>
          <a:prstGeom prst="rect">
            <a:avLst/>
          </a:prstGeom>
          <a:noFill/>
        </p:spPr>
        <p:txBody>
          <a:bodyPr wrap="square" lIns="0" rIns="0" tIns="0" bIns="0" anchor="t">
            <a:spAutoFit/>
          </a:bodyPr>
          <a:lstStyle/>
          <a:p>
            <a:pPr algn="l">
              <a:lnSpc>
                <a:spcPct val="112000"/>
              </a:lnSpc>
              <a:spcAft>
                <a:spcPts val="600"/>
              </a:spcAft>
            </a:pPr>
            <a:r>
              <a:rPr sz="1100" b="1" i="0">
                <a:solidFill>
                  <a:srgbClr val="2563EB"/>
                </a:solidFill>
                <a:latin typeface="Helvetica Neue"/>
              </a:rPr>
              <a:t>01   ·   THE PROBLEM</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lnSpc>
                <a:spcPct val="112000"/>
              </a:lnSpc>
              <a:spcAft>
                <a:spcPts val="600"/>
              </a:spcAft>
            </a:pPr>
            <a:r>
              <a:rPr sz="3000" b="1" i="0">
                <a:solidFill>
                  <a:srgbClr val="1C1917"/>
                </a:solidFill>
                <a:latin typeface="Helvetica Neue"/>
              </a:rPr>
              <a:t>A direction, ten times a second</a:t>
            </a:r>
          </a:p>
        </p:txBody>
      </p:sp>
      <p:sp>
        <p:nvSpPr>
          <p:cNvPr id="4" name="TextBox 3"/>
          <p:cNvSpPr txBox="1"/>
          <p:nvPr/>
        </p:nvSpPr>
        <p:spPr>
          <a:xfrm>
            <a:off x="640080" y="6419088"/>
            <a:ext cx="7315200" cy="228600"/>
          </a:xfrm>
          <a:prstGeom prst="rect">
            <a:avLst/>
          </a:prstGeom>
          <a:noFill/>
        </p:spPr>
        <p:txBody>
          <a:bodyPr wrap="square" lIns="0" rIns="0" tIns="0" bIns="0" anchor="t">
            <a:spAutoFit/>
          </a:bodyPr>
          <a:lstStyle/>
          <a:p>
            <a:pPr algn="l">
              <a:lnSpc>
                <a:spcPct val="112000"/>
              </a:lnSpc>
              <a:spcAft>
                <a:spcPts val="600"/>
              </a:spcAft>
            </a:pPr>
            <a:r>
              <a:rPr sz="900" b="0" i="0">
                <a:solidFill>
                  <a:srgbClr val="78716C"/>
                </a:solidFill>
                <a:latin typeface="Helvetica Neue"/>
              </a:rPr>
              <a:t>Hearing drones in 3D  ·  Livshits &amp; Masad</a:t>
            </a:r>
          </a:p>
        </p:txBody>
      </p:sp>
      <p:sp>
        <p:nvSpPr>
          <p:cNvPr id="5" name="TextBox 4"/>
          <p:cNvSpPr txBox="1"/>
          <p:nvPr/>
        </p:nvSpPr>
        <p:spPr>
          <a:xfrm>
            <a:off x="10634472" y="6419088"/>
            <a:ext cx="914400" cy="228600"/>
          </a:xfrm>
          <a:prstGeom prst="rect">
            <a:avLst/>
          </a:prstGeom>
          <a:noFill/>
        </p:spPr>
        <p:txBody>
          <a:bodyPr wrap="square" lIns="0" rIns="0" tIns="0" bIns="0" anchor="t">
            <a:spAutoFit/>
          </a:bodyPr>
          <a:lstStyle/>
          <a:p>
            <a:pPr algn="r">
              <a:lnSpc>
                <a:spcPct val="112000"/>
              </a:lnSpc>
              <a:spcAft>
                <a:spcPts val="600"/>
              </a:spcAft>
            </a:pPr>
            <a:r>
              <a:rPr sz="900" b="0" i="0">
                <a:solidFill>
                  <a:srgbClr val="78716C"/>
                </a:solidFill>
                <a:latin typeface="Helvetica Neue"/>
              </a:rPr>
              <a:t>2 / 8</a:t>
            </a:r>
          </a:p>
        </p:txBody>
      </p:sp>
      <p:sp>
        <p:nvSpPr>
          <p:cNvPr id="6" name="TextBox 5"/>
          <p:cNvSpPr txBox="1"/>
          <p:nvPr/>
        </p:nvSpPr>
        <p:spPr>
          <a:xfrm>
            <a:off x="640080" y="1444752"/>
            <a:ext cx="6537960" cy="3703320"/>
          </a:xfrm>
          <a:prstGeom prst="rect">
            <a:avLst/>
          </a:prstGeom>
          <a:noFill/>
        </p:spPr>
        <p:txBody>
          <a:bodyPr wrap="square" lIns="0" rIns="0" tIns="0" bIns="0" anchor="t">
            <a:spAutoFit/>
          </a:bodyPr>
          <a:lstStyle/>
          <a:p>
            <a:pPr algn="l">
              <a:lnSpc>
                <a:spcPct val="112000"/>
              </a:lnSpc>
              <a:spcAft>
                <a:spcPts val="1200"/>
              </a:spcAft>
            </a:pPr>
            <a:r>
              <a:rPr sz="1000" b="0" i="0">
                <a:solidFill>
                  <a:srgbClr val="2563EB"/>
                </a:solidFill>
                <a:latin typeface="Helvetica Neue"/>
              </a:rPr>
              <a:t>●   </a:t>
            </a:r>
            <a:r>
              <a:rPr sz="1600" b="0" i="0">
                <a:solidFill>
                  <a:srgbClr val="44403C"/>
                </a:solidFill>
                <a:latin typeface="Helvetica Neue"/>
              </a:rPr>
              <a:t>Drones are small, and they often fly with no radio link. That defeats a camera in poor visibility, and a radio detector outright.</a:t>
            </a:r>
          </a:p>
          <a:p>
            <a:pPr algn="l">
              <a:lnSpc>
                <a:spcPct val="112000"/>
              </a:lnSpc>
              <a:spcAft>
                <a:spcPts val="1200"/>
              </a:spcAft>
            </a:pPr>
            <a:r>
              <a:rPr sz="1000" b="0" i="0">
                <a:solidFill>
                  <a:srgbClr val="2563EB"/>
                </a:solidFill>
                <a:latin typeface="Helvetica Neue"/>
              </a:rPr>
              <a:t>●   </a:t>
            </a:r>
            <a:r>
              <a:rPr sz="1600" b="0" i="0">
                <a:solidFill>
                  <a:srgbClr val="44403C"/>
                </a:solidFill>
                <a:latin typeface="Helvetica Neue"/>
              </a:rPr>
              <a:t>Sound is the cheap fallback. Rotors are loud, and the sound is harmonically distinctive.</a:t>
            </a:r>
          </a:p>
          <a:p>
            <a:pPr algn="l">
              <a:lnSpc>
                <a:spcPct val="112000"/>
              </a:lnSpc>
              <a:spcAft>
                <a:spcPts val="1200"/>
              </a:spcAft>
            </a:pPr>
            <a:r>
              <a:rPr sz="1000" b="0" i="0">
                <a:solidFill>
                  <a:srgbClr val="2563EB"/>
                </a:solidFill>
                <a:latin typeface="Helvetica Neue"/>
              </a:rPr>
              <a:t>●   </a:t>
            </a:r>
            <a:r>
              <a:rPr sz="1600" b="0" i="0">
                <a:solidFill>
                  <a:srgbClr val="44403C"/>
                </a:solidFill>
                <a:latin typeface="Helvetica Neue"/>
              </a:rPr>
              <a:t>From a ground array we want a report, ten times a second: is a drone audible, and in which direction.</a:t>
            </a:r>
          </a:p>
          <a:p>
            <a:pPr algn="l">
              <a:lnSpc>
                <a:spcPct val="112000"/>
              </a:lnSpc>
              <a:spcAft>
                <a:spcPts val="1200"/>
              </a:spcAft>
            </a:pPr>
            <a:r>
              <a:rPr sz="1000" b="0" i="0">
                <a:solidFill>
                  <a:srgbClr val="2563EB"/>
                </a:solidFill>
                <a:latin typeface="Helvetica Neue"/>
              </a:rPr>
              <a:t>●   </a:t>
            </a:r>
            <a:r>
              <a:rPr sz="1600" b="0" i="0">
                <a:solidFill>
                  <a:srgbClr val="44403C"/>
                </a:solidFill>
                <a:latin typeface="Helvetica Neue"/>
              </a:rPr>
              <a:t>Published systems use 24 or more synchronized microphones. Six in one off-the-shelf recorder would cost about four times less.</a:t>
            </a:r>
          </a:p>
        </p:txBody>
      </p:sp>
      <p:sp>
        <p:nvSpPr>
          <p:cNvPr id="7" name="Rounded Rectangle 6"/>
          <p:cNvSpPr/>
          <p:nvPr/>
        </p:nvSpPr>
        <p:spPr>
          <a:xfrm>
            <a:off x="7452360" y="1444752"/>
            <a:ext cx="4114800" cy="3703320"/>
          </a:xfrm>
          <a:prstGeom prst="roundRect">
            <a:avLst>
              <a:gd name="adj" fmla="val 6000"/>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0" y="1627632"/>
            <a:ext cx="3703320" cy="237744"/>
          </a:xfrm>
          <a:prstGeom prst="rect">
            <a:avLst/>
          </a:prstGeom>
          <a:noFill/>
        </p:spPr>
        <p:txBody>
          <a:bodyPr wrap="square" lIns="0" rIns="0" tIns="0" bIns="0" anchor="t">
            <a:spAutoFit/>
          </a:bodyPr>
          <a:lstStyle/>
          <a:p>
            <a:pPr algn="l">
              <a:lnSpc>
                <a:spcPct val="112000"/>
              </a:lnSpc>
              <a:spcAft>
                <a:spcPts val="600"/>
              </a:spcAft>
            </a:pPr>
            <a:r>
              <a:rPr sz="1200" b="1" i="0">
                <a:solidFill>
                  <a:srgbClr val="60A5FA"/>
                </a:solidFill>
                <a:latin typeface="Helvetica Neue"/>
              </a:rPr>
              <a:t>THE QUESTION</a:t>
            </a:r>
          </a:p>
        </p:txBody>
      </p:sp>
      <p:sp>
        <p:nvSpPr>
          <p:cNvPr id="9" name="TextBox 8"/>
          <p:cNvSpPr txBox="1"/>
          <p:nvPr/>
        </p:nvSpPr>
        <p:spPr>
          <a:xfrm>
            <a:off x="7680960" y="1938528"/>
            <a:ext cx="3703320" cy="960120"/>
          </a:xfrm>
          <a:prstGeom prst="rect">
            <a:avLst/>
          </a:prstGeom>
          <a:noFill/>
        </p:spPr>
        <p:txBody>
          <a:bodyPr wrap="square" lIns="0" rIns="0" tIns="0" bIns="0" anchor="t">
            <a:spAutoFit/>
          </a:bodyPr>
          <a:lstStyle/>
          <a:p>
            <a:pPr algn="l">
              <a:lnSpc>
                <a:spcPct val="112000"/>
              </a:lnSpc>
              <a:spcAft>
                <a:spcPts val="600"/>
              </a:spcAft>
            </a:pPr>
            <a:r>
              <a:rPr sz="1400" b="0" i="0">
                <a:solidFill>
                  <a:srgbClr val="D6D3D1"/>
                </a:solidFill>
                <a:latin typeface="Helvetica Neue"/>
              </a:rPr>
              <a:t>Rodríguez et al. (2026) leave temporal context as untested future work. Can a few frames of history let six microphones match twenty-four?</a:t>
            </a:r>
          </a:p>
        </p:txBody>
      </p:sp>
      <p:sp>
        <p:nvSpPr>
          <p:cNvPr id="10" name="TextBox 9"/>
          <p:cNvSpPr txBox="1"/>
          <p:nvPr/>
        </p:nvSpPr>
        <p:spPr>
          <a:xfrm>
            <a:off x="7680960" y="2999232"/>
            <a:ext cx="3703320" cy="237744"/>
          </a:xfrm>
          <a:prstGeom prst="rect">
            <a:avLst/>
          </a:prstGeom>
          <a:noFill/>
        </p:spPr>
        <p:txBody>
          <a:bodyPr wrap="square" lIns="0" rIns="0" tIns="0" bIns="0" anchor="t">
            <a:spAutoFit/>
          </a:bodyPr>
          <a:lstStyle/>
          <a:p>
            <a:pPr algn="l">
              <a:lnSpc>
                <a:spcPct val="112000"/>
              </a:lnSpc>
              <a:spcAft>
                <a:spcPts val="600"/>
              </a:spcAft>
            </a:pPr>
            <a:r>
              <a:rPr sz="1200" b="1" i="0">
                <a:solidFill>
                  <a:srgbClr val="60A5FA"/>
                </a:solidFill>
                <a:latin typeface="Helvetica Neue"/>
              </a:rPr>
              <a:t>WHAT WE FOUND</a:t>
            </a:r>
          </a:p>
        </p:txBody>
      </p:sp>
      <p:sp>
        <p:nvSpPr>
          <p:cNvPr id="11" name="TextBox 10"/>
          <p:cNvSpPr txBox="1"/>
          <p:nvPr/>
        </p:nvSpPr>
        <p:spPr>
          <a:xfrm>
            <a:off x="7680960" y="3291840"/>
            <a:ext cx="3703320" cy="1645920"/>
          </a:xfrm>
          <a:prstGeom prst="rect">
            <a:avLst/>
          </a:prstGeom>
          <a:noFill/>
        </p:spPr>
        <p:txBody>
          <a:bodyPr wrap="square" lIns="0" rIns="0" tIns="0" bIns="0" anchor="t">
            <a:spAutoFit/>
          </a:bodyPr>
          <a:lstStyle/>
          <a:p>
            <a:pPr algn="l">
              <a:lnSpc>
                <a:spcPct val="112000"/>
              </a:lnSpc>
              <a:spcAft>
                <a:spcPts val="600"/>
              </a:spcAft>
            </a:pPr>
            <a:r>
              <a:rPr sz="1400" b="0" i="0">
                <a:solidFill>
                  <a:srgbClr val="F5F5F4"/>
                </a:solidFill>
                <a:latin typeface="Helvetica Neue"/>
              </a:rPr>
              <a:t>They can, and the history is not why. Six on one recorder match the full array on every drone frame. Extra frames help only where microphones are scarce.</a:t>
            </a:r>
          </a:p>
        </p:txBody>
      </p:sp>
      <p:sp>
        <p:nvSpPr>
          <p:cNvPr id="12" name="TextBox 11"/>
          <p:cNvSpPr txBox="1"/>
          <p:nvPr/>
        </p:nvSpPr>
        <p:spPr>
          <a:xfrm>
            <a:off x="640080" y="5349240"/>
            <a:ext cx="10972800" cy="868680"/>
          </a:xfrm>
          <a:prstGeom prst="rect">
            <a:avLst/>
          </a:prstGeom>
          <a:noFill/>
        </p:spPr>
        <p:txBody>
          <a:bodyPr wrap="square" lIns="0" rIns="0" tIns="0" bIns="0" anchor="t">
            <a:spAutoFit/>
          </a:bodyPr>
          <a:lstStyle/>
          <a:p>
            <a:pPr algn="l">
              <a:lnSpc>
                <a:spcPct val="112000"/>
              </a:lnSpc>
              <a:spcAft>
                <a:spcPts val="600"/>
              </a:spcAft>
            </a:pPr>
            <a:r>
              <a:rPr sz="1400" b="0" i="0">
                <a:solidFill>
                  <a:srgbClr val="44403C"/>
                </a:solidFill>
                <a:latin typeface="Helvetica Neue"/>
              </a:rPr>
              <a:t>Their dataset and their splits. One DJI Air 3, four recorders of six, 48 kHz, GPS at 10 Hz. Training is 52 minutes at site 1. Test 2 is 20 minutes at the same site. Test 1 is 3 minutes at another site and stayed sealed through development. Targets are 10° discs.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640080" y="411480"/>
            <a:ext cx="9144000" cy="274320"/>
          </a:xfrm>
          <a:prstGeom prst="rect">
            <a:avLst/>
          </a:prstGeom>
          <a:noFill/>
        </p:spPr>
        <p:txBody>
          <a:bodyPr wrap="square" lIns="0" rIns="0" tIns="0" bIns="0" anchor="t">
            <a:spAutoFit/>
          </a:bodyPr>
          <a:lstStyle/>
          <a:p>
            <a:pPr algn="l">
              <a:lnSpc>
                <a:spcPct val="112000"/>
              </a:lnSpc>
              <a:spcAft>
                <a:spcPts val="600"/>
              </a:spcAft>
            </a:pPr>
            <a:r>
              <a:rPr sz="1100" b="1" i="0">
                <a:solidFill>
                  <a:srgbClr val="2563EB"/>
                </a:solidFill>
                <a:latin typeface="Helvetica Neue"/>
              </a:rPr>
              <a:t>02   ·   THE ARRAY</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lnSpc>
                <a:spcPct val="112000"/>
              </a:lnSpc>
              <a:spcAft>
                <a:spcPts val="600"/>
              </a:spcAft>
            </a:pPr>
            <a:r>
              <a:rPr sz="3000" b="1" i="0">
                <a:solidFill>
                  <a:srgbClr val="1C1917"/>
                </a:solidFill>
                <a:latin typeface="Helvetica Neue"/>
              </a:rPr>
              <a:t>Unambiguous only below 1.47 kHz</a:t>
            </a:r>
          </a:p>
        </p:txBody>
      </p:sp>
      <p:sp>
        <p:nvSpPr>
          <p:cNvPr id="4" name="TextBox 3"/>
          <p:cNvSpPr txBox="1"/>
          <p:nvPr/>
        </p:nvSpPr>
        <p:spPr>
          <a:xfrm>
            <a:off x="640080" y="6419088"/>
            <a:ext cx="7315200" cy="228600"/>
          </a:xfrm>
          <a:prstGeom prst="rect">
            <a:avLst/>
          </a:prstGeom>
          <a:noFill/>
        </p:spPr>
        <p:txBody>
          <a:bodyPr wrap="square" lIns="0" rIns="0" tIns="0" bIns="0" anchor="t">
            <a:spAutoFit/>
          </a:bodyPr>
          <a:lstStyle/>
          <a:p>
            <a:pPr algn="l">
              <a:lnSpc>
                <a:spcPct val="112000"/>
              </a:lnSpc>
              <a:spcAft>
                <a:spcPts val="600"/>
              </a:spcAft>
            </a:pPr>
            <a:r>
              <a:rPr sz="900" b="0" i="0">
                <a:solidFill>
                  <a:srgbClr val="78716C"/>
                </a:solidFill>
                <a:latin typeface="Helvetica Neue"/>
              </a:rPr>
              <a:t>Hearing drones in 3D  ·  Livshits &amp; Masad</a:t>
            </a:r>
          </a:p>
        </p:txBody>
      </p:sp>
      <p:sp>
        <p:nvSpPr>
          <p:cNvPr id="5" name="TextBox 4"/>
          <p:cNvSpPr txBox="1"/>
          <p:nvPr/>
        </p:nvSpPr>
        <p:spPr>
          <a:xfrm>
            <a:off x="10634472" y="6419088"/>
            <a:ext cx="914400" cy="228600"/>
          </a:xfrm>
          <a:prstGeom prst="rect">
            <a:avLst/>
          </a:prstGeom>
          <a:noFill/>
        </p:spPr>
        <p:txBody>
          <a:bodyPr wrap="square" lIns="0" rIns="0" tIns="0" bIns="0" anchor="t">
            <a:spAutoFit/>
          </a:bodyPr>
          <a:lstStyle/>
          <a:p>
            <a:pPr algn="r">
              <a:lnSpc>
                <a:spcPct val="112000"/>
              </a:lnSpc>
              <a:spcAft>
                <a:spcPts val="600"/>
              </a:spcAft>
            </a:pPr>
            <a:r>
              <a:rPr sz="900" b="0" i="0">
                <a:solidFill>
                  <a:srgbClr val="78716C"/>
                </a:solidFill>
                <a:latin typeface="Helvetica Neue"/>
              </a:rPr>
              <a:t>3 / 8</a:t>
            </a:r>
          </a:p>
        </p:txBody>
      </p:sp>
      <p:sp>
        <p:nvSpPr>
          <p:cNvPr id="6" name="Rounded Rectangle 5"/>
          <p:cNvSpPr/>
          <p:nvPr/>
        </p:nvSpPr>
        <p:spPr>
          <a:xfrm>
            <a:off x="640080" y="1353312"/>
            <a:ext cx="3520440" cy="1051560"/>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17904"/>
            <a:ext cx="3063240" cy="594360"/>
          </a:xfrm>
          <a:prstGeom prst="rect">
            <a:avLst/>
          </a:prstGeom>
          <a:noFill/>
        </p:spPr>
        <p:txBody>
          <a:bodyPr wrap="square" lIns="0" rIns="0" tIns="0" bIns="0" anchor="t">
            <a:spAutoFit/>
          </a:bodyPr>
          <a:lstStyle/>
          <a:p>
            <a:pPr algn="l">
              <a:lnSpc>
                <a:spcPct val="112000"/>
              </a:lnSpc>
              <a:spcAft>
                <a:spcPts val="600"/>
              </a:spcAft>
            </a:pPr>
            <a:r>
              <a:rPr sz="2200" b="1" i="0">
                <a:solidFill>
                  <a:srgbClr val="1C1917"/>
                </a:solidFill>
                <a:latin typeface="Helvetica Neue"/>
              </a:rPr>
              <a:t>1.47 kHz</a:t>
            </a:r>
          </a:p>
        </p:txBody>
      </p:sp>
      <p:sp>
        <p:nvSpPr>
          <p:cNvPr id="8" name="TextBox 7"/>
          <p:cNvSpPr txBox="1"/>
          <p:nvPr/>
        </p:nvSpPr>
        <p:spPr>
          <a:xfrm>
            <a:off x="868680" y="1867154"/>
            <a:ext cx="3063240" cy="228599"/>
          </a:xfrm>
          <a:prstGeom prst="rect">
            <a:avLst/>
          </a:prstGeom>
          <a:noFill/>
        </p:spPr>
        <p:txBody>
          <a:bodyPr wrap="square" lIns="0" rIns="0" tIns="0" bIns="0" anchor="t">
            <a:spAutoFit/>
          </a:bodyPr>
          <a:lstStyle/>
          <a:p>
            <a:pPr algn="l">
              <a:lnSpc>
                <a:spcPct val="112000"/>
              </a:lnSpc>
              <a:spcAft>
                <a:spcPts val="200"/>
              </a:spcAft>
            </a:pPr>
            <a:r>
              <a:rPr sz="1200" b="0" i="0">
                <a:solidFill>
                  <a:srgbClr val="44403C"/>
                </a:solidFill>
                <a:latin typeface="Helvetica Neue"/>
              </a:rPr>
              <a:t>Unambiguous only below this.</a:t>
            </a:r>
          </a:p>
        </p:txBody>
      </p:sp>
      <p:sp>
        <p:nvSpPr>
          <p:cNvPr id="9" name="Rounded Rectangle 8"/>
          <p:cNvSpPr/>
          <p:nvPr/>
        </p:nvSpPr>
        <p:spPr>
          <a:xfrm>
            <a:off x="4325112" y="1353312"/>
            <a:ext cx="3520440" cy="1051560"/>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3712" y="1517904"/>
            <a:ext cx="3063240" cy="594360"/>
          </a:xfrm>
          <a:prstGeom prst="rect">
            <a:avLst/>
          </a:prstGeom>
          <a:noFill/>
        </p:spPr>
        <p:txBody>
          <a:bodyPr wrap="square" lIns="0" rIns="0" tIns="0" bIns="0" anchor="t">
            <a:spAutoFit/>
          </a:bodyPr>
          <a:lstStyle/>
          <a:p>
            <a:pPr algn="l">
              <a:lnSpc>
                <a:spcPct val="112000"/>
              </a:lnSpc>
              <a:spcAft>
                <a:spcPts val="600"/>
              </a:spcAft>
            </a:pPr>
            <a:r>
              <a:rPr sz="2200" b="1" i="0">
                <a:solidFill>
                  <a:srgbClr val="1C1917"/>
                </a:solidFill>
                <a:latin typeface="Helvetica Neue"/>
              </a:rPr>
              <a:t>2.2 kHz</a:t>
            </a:r>
          </a:p>
        </p:txBody>
      </p:sp>
      <p:sp>
        <p:nvSpPr>
          <p:cNvPr id="11" name="TextBox 10"/>
          <p:cNvSpPr txBox="1"/>
          <p:nvPr/>
        </p:nvSpPr>
        <p:spPr>
          <a:xfrm>
            <a:off x="4553712" y="1867154"/>
            <a:ext cx="3063240" cy="228599"/>
          </a:xfrm>
          <a:prstGeom prst="rect">
            <a:avLst/>
          </a:prstGeom>
          <a:noFill/>
        </p:spPr>
        <p:txBody>
          <a:bodyPr wrap="square" lIns="0" rIns="0" tIns="0" bIns="0" anchor="t">
            <a:spAutoFit/>
          </a:bodyPr>
          <a:lstStyle/>
          <a:p>
            <a:pPr algn="l">
              <a:lnSpc>
                <a:spcPct val="112000"/>
              </a:lnSpc>
              <a:spcAft>
                <a:spcPts val="200"/>
              </a:spcAft>
            </a:pPr>
            <a:r>
              <a:rPr sz="1200" b="0" i="0">
                <a:solidFill>
                  <a:srgbClr val="44403C"/>
                </a:solidFill>
                <a:latin typeface="Helvetica Neue"/>
              </a:rPr>
              <a:t>The maps run to here, past that band.</a:t>
            </a:r>
          </a:p>
        </p:txBody>
      </p:sp>
      <p:sp>
        <p:nvSpPr>
          <p:cNvPr id="12" name="Rounded Rectangle 11"/>
          <p:cNvSpPr/>
          <p:nvPr/>
        </p:nvSpPr>
        <p:spPr>
          <a:xfrm>
            <a:off x="8010144" y="1353312"/>
            <a:ext cx="3520440" cy="1051560"/>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38744" y="1517904"/>
            <a:ext cx="3063240" cy="594360"/>
          </a:xfrm>
          <a:prstGeom prst="rect">
            <a:avLst/>
          </a:prstGeom>
          <a:noFill/>
        </p:spPr>
        <p:txBody>
          <a:bodyPr wrap="square" lIns="0" rIns="0" tIns="0" bIns="0" anchor="t">
            <a:spAutoFit/>
          </a:bodyPr>
          <a:lstStyle/>
          <a:p>
            <a:pPr algn="l">
              <a:lnSpc>
                <a:spcPct val="112000"/>
              </a:lnSpc>
              <a:spcAft>
                <a:spcPts val="600"/>
              </a:spcAft>
            </a:pPr>
            <a:r>
              <a:rPr sz="2200" b="1" i="0">
                <a:solidFill>
                  <a:srgbClr val="1C1917"/>
                </a:solidFill>
                <a:latin typeface="Helvetica Neue"/>
              </a:rPr>
              <a:t>3.6 dB</a:t>
            </a:r>
          </a:p>
        </p:txBody>
      </p:sp>
      <p:sp>
        <p:nvSpPr>
          <p:cNvPr id="14" name="TextBox 13"/>
          <p:cNvSpPr txBox="1"/>
          <p:nvPr/>
        </p:nvSpPr>
        <p:spPr>
          <a:xfrm>
            <a:off x="8238744" y="1867154"/>
            <a:ext cx="3063240" cy="228599"/>
          </a:xfrm>
          <a:prstGeom prst="rect">
            <a:avLst/>
          </a:prstGeom>
          <a:noFill/>
        </p:spPr>
        <p:txBody>
          <a:bodyPr wrap="square" lIns="0" rIns="0" tIns="0" bIns="0" anchor="t">
            <a:spAutoFit/>
          </a:bodyPr>
          <a:lstStyle/>
          <a:p>
            <a:pPr algn="l">
              <a:lnSpc>
                <a:spcPct val="112000"/>
              </a:lnSpc>
              <a:spcAft>
                <a:spcPts val="200"/>
              </a:spcAft>
            </a:pPr>
            <a:r>
              <a:rPr sz="1200" b="0" i="0">
                <a:solidFill>
                  <a:srgbClr val="44403C"/>
                </a:solidFill>
                <a:latin typeface="Helvetica Neue"/>
              </a:rPr>
              <a:t>The phantom all 24 microphones still leave.</a:t>
            </a:r>
          </a:p>
        </p:txBody>
      </p:sp>
      <p:sp>
        <p:nvSpPr>
          <p:cNvPr id="15" name="TextBox 14"/>
          <p:cNvSpPr txBox="1"/>
          <p:nvPr/>
        </p:nvSpPr>
        <p:spPr>
          <a:xfrm>
            <a:off x="640080" y="2606040"/>
            <a:ext cx="6309360" cy="3566160"/>
          </a:xfrm>
          <a:prstGeom prst="rect">
            <a:avLst/>
          </a:prstGeom>
          <a:noFill/>
        </p:spPr>
        <p:txBody>
          <a:bodyPr wrap="square" lIns="0" rIns="0" tIns="0" bIns="0" anchor="t">
            <a:spAutoFit/>
          </a:bodyPr>
          <a:lstStyle/>
          <a:p>
            <a:pPr algn="l">
              <a:lnSpc>
                <a:spcPct val="115000"/>
              </a:lnSpc>
              <a:spcAft>
                <a:spcPts val="600"/>
              </a:spcAft>
            </a:pPr>
            <a:r>
              <a:rPr sz="1400" b="0" i="0">
                <a:solidFill>
                  <a:srgbClr val="44403C"/>
                </a:solidFill>
                <a:latin typeface="Helvetica Neue"/>
              </a:rPr>
              <a:t>Sixteen sub-bands on a 23 by 91 grid at 4°. A sidelobe can line up almost as well as the source. All 24 has a coplanar recorder and a pair 0.17 m apart, so eighteen further microphones buy nothing.
Every panel is the same map. Highlighted channels are the array that was trained. The new site is those microphones after they were moved. Lobe hops are what the filter removes. The smooth miss inside 30 m is the near field, and the filter does not fix it.</a:t>
            </a:r>
          </a:p>
        </p:txBody>
      </p:sp>
      <p:pic>
        <p:nvPicPr>
          <p:cNvPr id="16" name="Picture 15" descr="array_tested.png"/>
          <p:cNvPicPr>
            <a:picLocks noChangeAspect="1"/>
          </p:cNvPicPr>
          <p:nvPr/>
        </p:nvPicPr>
        <p:blipFill>
          <a:blip r:embed="rId2"/>
          <a:stretch>
            <a:fillRect/>
          </a:stretch>
        </p:blipFill>
        <p:spPr>
          <a:xfrm>
            <a:off x="7360920" y="2487168"/>
            <a:ext cx="4114800" cy="383102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640080" y="411480"/>
            <a:ext cx="9144000" cy="274320"/>
          </a:xfrm>
          <a:prstGeom prst="rect">
            <a:avLst/>
          </a:prstGeom>
          <a:noFill/>
        </p:spPr>
        <p:txBody>
          <a:bodyPr wrap="square" lIns="0" rIns="0" tIns="0" bIns="0" anchor="t">
            <a:spAutoFit/>
          </a:bodyPr>
          <a:lstStyle/>
          <a:p>
            <a:pPr algn="l">
              <a:lnSpc>
                <a:spcPct val="112000"/>
              </a:lnSpc>
              <a:spcAft>
                <a:spcPts val="600"/>
              </a:spcAft>
            </a:pPr>
            <a:r>
              <a:rPr sz="1100" b="1" i="0">
                <a:solidFill>
                  <a:srgbClr val="2563EB"/>
                </a:solidFill>
                <a:latin typeface="Helvetica Neue"/>
              </a:rPr>
              <a:t>03   ·   THE MODEL</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lnSpc>
                <a:spcPct val="112000"/>
              </a:lnSpc>
              <a:spcAft>
                <a:spcPts val="600"/>
              </a:spcAft>
            </a:pPr>
            <a:r>
              <a:rPr sz="3000" b="1" i="0">
                <a:solidFill>
                  <a:srgbClr val="1C1917"/>
                </a:solidFill>
                <a:latin typeface="Helvetica Neue"/>
              </a:rPr>
              <a:t>A U-Net on the map, with two measured changes</a:t>
            </a:r>
          </a:p>
        </p:txBody>
      </p:sp>
      <p:sp>
        <p:nvSpPr>
          <p:cNvPr id="4" name="TextBox 3"/>
          <p:cNvSpPr txBox="1"/>
          <p:nvPr/>
        </p:nvSpPr>
        <p:spPr>
          <a:xfrm>
            <a:off x="640080" y="6419088"/>
            <a:ext cx="7315200" cy="228600"/>
          </a:xfrm>
          <a:prstGeom prst="rect">
            <a:avLst/>
          </a:prstGeom>
          <a:noFill/>
        </p:spPr>
        <p:txBody>
          <a:bodyPr wrap="square" lIns="0" rIns="0" tIns="0" bIns="0" anchor="t">
            <a:spAutoFit/>
          </a:bodyPr>
          <a:lstStyle/>
          <a:p>
            <a:pPr algn="l">
              <a:lnSpc>
                <a:spcPct val="112000"/>
              </a:lnSpc>
              <a:spcAft>
                <a:spcPts val="600"/>
              </a:spcAft>
            </a:pPr>
            <a:r>
              <a:rPr sz="900" b="0" i="0">
                <a:solidFill>
                  <a:srgbClr val="78716C"/>
                </a:solidFill>
                <a:latin typeface="Helvetica Neue"/>
              </a:rPr>
              <a:t>Hearing drones in 3D  ·  Livshits &amp; Masad</a:t>
            </a:r>
          </a:p>
        </p:txBody>
      </p:sp>
      <p:sp>
        <p:nvSpPr>
          <p:cNvPr id="5" name="TextBox 4"/>
          <p:cNvSpPr txBox="1"/>
          <p:nvPr/>
        </p:nvSpPr>
        <p:spPr>
          <a:xfrm>
            <a:off x="10634472" y="6419088"/>
            <a:ext cx="914400" cy="228600"/>
          </a:xfrm>
          <a:prstGeom prst="rect">
            <a:avLst/>
          </a:prstGeom>
          <a:noFill/>
        </p:spPr>
        <p:txBody>
          <a:bodyPr wrap="square" lIns="0" rIns="0" tIns="0" bIns="0" anchor="t">
            <a:spAutoFit/>
          </a:bodyPr>
          <a:lstStyle/>
          <a:p>
            <a:pPr algn="r">
              <a:lnSpc>
                <a:spcPct val="112000"/>
              </a:lnSpc>
              <a:spcAft>
                <a:spcPts val="600"/>
              </a:spcAft>
            </a:pPr>
            <a:r>
              <a:rPr sz="900" b="0" i="0">
                <a:solidFill>
                  <a:srgbClr val="78716C"/>
                </a:solidFill>
                <a:latin typeface="Helvetica Neue"/>
              </a:rPr>
              <a:t>4 / 8</a:t>
            </a:r>
          </a:p>
        </p:txBody>
      </p:sp>
      <p:sp>
        <p:nvSpPr>
          <p:cNvPr id="6" name="Rounded Rectangle 5"/>
          <p:cNvSpPr/>
          <p:nvPr/>
        </p:nvSpPr>
        <p:spPr>
          <a:xfrm>
            <a:off x="640080" y="1444752"/>
            <a:ext cx="5486400" cy="2267712"/>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27632"/>
            <a:ext cx="4983480" cy="329184"/>
          </a:xfrm>
          <a:prstGeom prst="rect">
            <a:avLst/>
          </a:prstGeom>
          <a:noFill/>
        </p:spPr>
        <p:txBody>
          <a:bodyPr wrap="square" lIns="0" rIns="0" tIns="0" bIns="0" anchor="t">
            <a:spAutoFit/>
          </a:bodyPr>
          <a:lstStyle/>
          <a:p>
            <a:pPr algn="l">
              <a:lnSpc>
                <a:spcPct val="112000"/>
              </a:lnSpc>
              <a:spcAft>
                <a:spcPts val="600"/>
              </a:spcAft>
            </a:pPr>
            <a:r>
              <a:rPr sz="1600" b="1" i="0">
                <a:solidFill>
                  <a:srgbClr val="1C1917"/>
                </a:solidFill>
                <a:latin typeface="Helvetica Neue"/>
              </a:rPr>
              <a:t>Architecture</a:t>
            </a:r>
          </a:p>
        </p:txBody>
      </p:sp>
      <p:sp>
        <p:nvSpPr>
          <p:cNvPr id="8" name="TextBox 7"/>
          <p:cNvSpPr txBox="1"/>
          <p:nvPr/>
        </p:nvSpPr>
        <p:spPr>
          <a:xfrm>
            <a:off x="896112" y="2066544"/>
            <a:ext cx="4983480" cy="1463040"/>
          </a:xfrm>
          <a:prstGeom prst="rect">
            <a:avLst/>
          </a:prstGeom>
          <a:noFill/>
        </p:spPr>
        <p:txBody>
          <a:bodyPr wrap="square" lIns="0" rIns="0" tIns="0" bIns="0" anchor="t">
            <a:spAutoFit/>
          </a:bodyPr>
          <a:lstStyle/>
          <a:p>
            <a:pPr algn="l">
              <a:lnSpc>
                <a:spcPct val="112000"/>
              </a:lnSpc>
              <a:spcAft>
                <a:spcPts val="600"/>
              </a:spcAft>
            </a:pPr>
            <a:r>
              <a:rPr sz="1500" b="0" i="0">
                <a:solidFill>
                  <a:srgbClr val="44403C"/>
                </a:solidFill>
                <a:latin typeface="Helvetica Neue"/>
              </a:rPr>
              <a:t>A depth-3 U-Net, 3×3 convolutions, circular padding on azimuth. A per-pixel mask, and a presence head pooled from the middle. It reads the 23 by 91 map.</a:t>
            </a:r>
          </a:p>
        </p:txBody>
      </p:sp>
      <p:sp>
        <p:nvSpPr>
          <p:cNvPr id="9" name="Rounded Rectangle 8"/>
          <p:cNvSpPr/>
          <p:nvPr/>
        </p:nvSpPr>
        <p:spPr>
          <a:xfrm>
            <a:off x="6309360" y="1444752"/>
            <a:ext cx="5486400" cy="2267712"/>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65392" y="1627632"/>
            <a:ext cx="4983480" cy="329184"/>
          </a:xfrm>
          <a:prstGeom prst="rect">
            <a:avLst/>
          </a:prstGeom>
          <a:noFill/>
        </p:spPr>
        <p:txBody>
          <a:bodyPr wrap="square" lIns="0" rIns="0" tIns="0" bIns="0" anchor="t">
            <a:spAutoFit/>
          </a:bodyPr>
          <a:lstStyle/>
          <a:p>
            <a:pPr algn="l">
              <a:lnSpc>
                <a:spcPct val="112000"/>
              </a:lnSpc>
              <a:spcAft>
                <a:spcPts val="600"/>
              </a:spcAft>
            </a:pPr>
            <a:r>
              <a:rPr sz="1600" b="1" i="0">
                <a:solidFill>
                  <a:srgbClr val="1C1917"/>
                </a:solidFill>
                <a:latin typeface="Helvetica Neue"/>
              </a:rPr>
              <a:t>Causal history</a:t>
            </a:r>
          </a:p>
        </p:txBody>
      </p:sp>
      <p:sp>
        <p:nvSpPr>
          <p:cNvPr id="11" name="TextBox 10"/>
          <p:cNvSpPr txBox="1"/>
          <p:nvPr/>
        </p:nvSpPr>
        <p:spPr>
          <a:xfrm>
            <a:off x="6565392" y="2066544"/>
            <a:ext cx="4983480" cy="1463040"/>
          </a:xfrm>
          <a:prstGeom prst="rect">
            <a:avLst/>
          </a:prstGeom>
          <a:noFill/>
        </p:spPr>
        <p:txBody>
          <a:bodyPr wrap="square" lIns="0" rIns="0" tIns="0" bIns="0" anchor="t">
            <a:spAutoFit/>
          </a:bodyPr>
          <a:lstStyle/>
          <a:p>
            <a:pPr algn="l">
              <a:lnSpc>
                <a:spcPct val="112000"/>
              </a:lnSpc>
              <a:spcAft>
                <a:spcPts val="600"/>
              </a:spcAft>
            </a:pPr>
            <a:r>
              <a:rPr sz="1500" b="0" i="0">
                <a:solidFill>
                  <a:srgbClr val="44403C"/>
                </a:solidFill>
                <a:latin typeface="Helvetica Neue"/>
              </a:rPr>
              <a:t>Temporal context is K frames stacked on the channel axis, newest last, so the stack is causal. The runs use K = 1, 5, and 9.</a:t>
            </a:r>
          </a:p>
        </p:txBody>
      </p:sp>
      <p:sp>
        <p:nvSpPr>
          <p:cNvPr id="12" name="Rounded Rectangle 11"/>
          <p:cNvSpPr/>
          <p:nvPr/>
        </p:nvSpPr>
        <p:spPr>
          <a:xfrm>
            <a:off x="640080" y="3840480"/>
            <a:ext cx="5486400" cy="2267712"/>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4023360"/>
            <a:ext cx="4983480" cy="329184"/>
          </a:xfrm>
          <a:prstGeom prst="rect">
            <a:avLst/>
          </a:prstGeom>
          <a:noFill/>
        </p:spPr>
        <p:txBody>
          <a:bodyPr wrap="square" lIns="0" rIns="0" tIns="0" bIns="0" anchor="t">
            <a:spAutoFit/>
          </a:bodyPr>
          <a:lstStyle/>
          <a:p>
            <a:pPr algn="l">
              <a:lnSpc>
                <a:spcPct val="112000"/>
              </a:lnSpc>
              <a:spcAft>
                <a:spcPts val="600"/>
              </a:spcAft>
            </a:pPr>
            <a:r>
              <a:rPr sz="1600" b="1" i="0">
                <a:solidFill>
                  <a:srgbClr val="1C1917"/>
                </a:solidFill>
                <a:latin typeface="Helvetica Neue"/>
              </a:rPr>
              <a:t>Training</a:t>
            </a:r>
          </a:p>
        </p:txBody>
      </p:sp>
      <p:sp>
        <p:nvSpPr>
          <p:cNvPr id="14" name="TextBox 13"/>
          <p:cNvSpPr txBox="1"/>
          <p:nvPr/>
        </p:nvSpPr>
        <p:spPr>
          <a:xfrm>
            <a:off x="896112" y="4462272"/>
            <a:ext cx="4983480" cy="1463040"/>
          </a:xfrm>
          <a:prstGeom prst="rect">
            <a:avLst/>
          </a:prstGeom>
          <a:noFill/>
        </p:spPr>
        <p:txBody>
          <a:bodyPr wrap="square" lIns="0" rIns="0" tIns="0" bIns="0" anchor="t">
            <a:spAutoFit/>
          </a:bodyPr>
          <a:lstStyle/>
          <a:p>
            <a:pPr algn="l">
              <a:lnSpc>
                <a:spcPct val="112000"/>
              </a:lnSpc>
              <a:spcAft>
                <a:spcPts val="600"/>
              </a:spcAft>
            </a:pPr>
            <a:r>
              <a:rPr sz="1500" b="0" i="0">
                <a:solidFill>
                  <a:srgbClr val="44403C"/>
                </a:solidFill>
                <a:latin typeface="Helvetica Neue"/>
              </a:rPr>
              <a:t>Adam at 5×10⁻³, class-weighted cross-entropy, early stopping on the test-2 hit rate, patience 10. 32 base filters rather than 64: faster, and 72% against 63% of frames within 10°. A leaky presence head, after a plain ReLU died in one seed.</a:t>
            </a:r>
          </a:p>
        </p:txBody>
      </p:sp>
      <p:sp>
        <p:nvSpPr>
          <p:cNvPr id="15" name="Rounded Rectangle 14"/>
          <p:cNvSpPr/>
          <p:nvPr/>
        </p:nvSpPr>
        <p:spPr>
          <a:xfrm>
            <a:off x="6309360" y="3840480"/>
            <a:ext cx="5486400" cy="2267712"/>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5392" y="4023360"/>
            <a:ext cx="4983480" cy="329184"/>
          </a:xfrm>
          <a:prstGeom prst="rect">
            <a:avLst/>
          </a:prstGeom>
          <a:noFill/>
        </p:spPr>
        <p:txBody>
          <a:bodyPr wrap="square" lIns="0" rIns="0" tIns="0" bIns="0" anchor="t">
            <a:spAutoFit/>
          </a:bodyPr>
          <a:lstStyle/>
          <a:p>
            <a:pPr algn="l">
              <a:lnSpc>
                <a:spcPct val="112000"/>
              </a:lnSpc>
              <a:spcAft>
                <a:spcPts val="600"/>
              </a:spcAft>
            </a:pPr>
            <a:r>
              <a:rPr sz="1600" b="1" i="0">
                <a:solidFill>
                  <a:srgbClr val="1C1917"/>
                </a:solidFill>
                <a:latin typeface="Helvetica Neue"/>
              </a:rPr>
              <a:t>The baseline</a:t>
            </a:r>
          </a:p>
        </p:txBody>
      </p:sp>
      <p:sp>
        <p:nvSpPr>
          <p:cNvPr id="17" name="TextBox 16"/>
          <p:cNvSpPr txBox="1"/>
          <p:nvPr/>
        </p:nvSpPr>
        <p:spPr>
          <a:xfrm>
            <a:off x="6565392" y="4462272"/>
            <a:ext cx="4983480" cy="1463040"/>
          </a:xfrm>
          <a:prstGeom prst="rect">
            <a:avLst/>
          </a:prstGeom>
          <a:noFill/>
        </p:spPr>
        <p:txBody>
          <a:bodyPr wrap="square" lIns="0" rIns="0" tIns="0" bIns="0" anchor="t">
            <a:spAutoFit/>
          </a:bodyPr>
          <a:lstStyle/>
          <a:p>
            <a:pPr algn="l">
              <a:lnSpc>
                <a:spcPct val="112000"/>
              </a:lnSpc>
              <a:spcAft>
                <a:spcPts val="600"/>
              </a:spcAft>
            </a:pPr>
            <a:r>
              <a:rPr sz="1500" b="0" i="0">
                <a:solidFill>
                  <a:srgbClr val="44403C"/>
                </a:solidFill>
                <a:latin typeface="Helvetica Neue"/>
              </a:rPr>
              <a:t>Brightest-pixel delay-and-sum, on the same frames. A separate 1-D CNN, 86k parameters, detects from one microphone, so it can be tested on audio we did not render as a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640080" y="411480"/>
            <a:ext cx="9144000" cy="274320"/>
          </a:xfrm>
          <a:prstGeom prst="rect">
            <a:avLst/>
          </a:prstGeom>
          <a:noFill/>
        </p:spPr>
        <p:txBody>
          <a:bodyPr wrap="square" lIns="0" rIns="0" tIns="0" bIns="0" anchor="t">
            <a:spAutoFit/>
          </a:bodyPr>
          <a:lstStyle/>
          <a:p>
            <a:pPr algn="l">
              <a:lnSpc>
                <a:spcPct val="112000"/>
              </a:lnSpc>
              <a:spcAft>
                <a:spcPts val="600"/>
              </a:spcAft>
            </a:pPr>
            <a:r>
              <a:rPr sz="1100" b="1" i="0">
                <a:solidFill>
                  <a:srgbClr val="2563EB"/>
                </a:solidFill>
                <a:latin typeface="Helvetica Neue"/>
              </a:rPr>
              <a:t>04   ·   THE KINEMATIC FILTER</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lnSpc>
                <a:spcPct val="112000"/>
              </a:lnSpc>
              <a:spcAft>
                <a:spcPts val="600"/>
              </a:spcAft>
            </a:pPr>
            <a:r>
              <a:rPr sz="3000" b="1" i="0">
                <a:solidFill>
                  <a:srgbClr val="1C1917"/>
                </a:solidFill>
                <a:latin typeface="Helvetica Neue"/>
              </a:rPr>
              <a:t>After the mask, not inside the network</a:t>
            </a:r>
          </a:p>
        </p:txBody>
      </p:sp>
      <p:sp>
        <p:nvSpPr>
          <p:cNvPr id="4" name="TextBox 3"/>
          <p:cNvSpPr txBox="1"/>
          <p:nvPr/>
        </p:nvSpPr>
        <p:spPr>
          <a:xfrm>
            <a:off x="640080" y="6419088"/>
            <a:ext cx="7315200" cy="228600"/>
          </a:xfrm>
          <a:prstGeom prst="rect">
            <a:avLst/>
          </a:prstGeom>
          <a:noFill/>
        </p:spPr>
        <p:txBody>
          <a:bodyPr wrap="square" lIns="0" rIns="0" tIns="0" bIns="0" anchor="t">
            <a:spAutoFit/>
          </a:bodyPr>
          <a:lstStyle/>
          <a:p>
            <a:pPr algn="l">
              <a:lnSpc>
                <a:spcPct val="112000"/>
              </a:lnSpc>
              <a:spcAft>
                <a:spcPts val="600"/>
              </a:spcAft>
            </a:pPr>
            <a:r>
              <a:rPr sz="900" b="0" i="0">
                <a:solidFill>
                  <a:srgbClr val="78716C"/>
                </a:solidFill>
                <a:latin typeface="Helvetica Neue"/>
              </a:rPr>
              <a:t>Hearing drones in 3D  ·  Livshits &amp; Masad</a:t>
            </a:r>
          </a:p>
        </p:txBody>
      </p:sp>
      <p:sp>
        <p:nvSpPr>
          <p:cNvPr id="5" name="TextBox 4"/>
          <p:cNvSpPr txBox="1"/>
          <p:nvPr/>
        </p:nvSpPr>
        <p:spPr>
          <a:xfrm>
            <a:off x="10634472" y="6419088"/>
            <a:ext cx="914400" cy="228600"/>
          </a:xfrm>
          <a:prstGeom prst="rect">
            <a:avLst/>
          </a:prstGeom>
          <a:noFill/>
        </p:spPr>
        <p:txBody>
          <a:bodyPr wrap="square" lIns="0" rIns="0" tIns="0" bIns="0" anchor="t">
            <a:spAutoFit/>
          </a:bodyPr>
          <a:lstStyle/>
          <a:p>
            <a:pPr algn="r">
              <a:lnSpc>
                <a:spcPct val="112000"/>
              </a:lnSpc>
              <a:spcAft>
                <a:spcPts val="600"/>
              </a:spcAft>
            </a:pPr>
            <a:r>
              <a:rPr sz="900" b="0" i="0">
                <a:solidFill>
                  <a:srgbClr val="78716C"/>
                </a:solidFill>
                <a:latin typeface="Helvetica Neue"/>
              </a:rPr>
              <a:t>5 / 8</a:t>
            </a:r>
          </a:p>
        </p:txBody>
      </p:sp>
      <p:sp>
        <p:nvSpPr>
          <p:cNvPr id="6" name="Rounded Rectangle 5"/>
          <p:cNvSpPr/>
          <p:nvPr/>
        </p:nvSpPr>
        <p:spPr>
          <a:xfrm>
            <a:off x="640080" y="1444752"/>
            <a:ext cx="2651760" cy="1353312"/>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9344"/>
            <a:ext cx="2194560" cy="594360"/>
          </a:xfrm>
          <a:prstGeom prst="rect">
            <a:avLst/>
          </a:prstGeom>
          <a:noFill/>
        </p:spPr>
        <p:txBody>
          <a:bodyPr wrap="square" lIns="0" rIns="0" tIns="0" bIns="0" anchor="t">
            <a:spAutoFit/>
          </a:bodyPr>
          <a:lstStyle/>
          <a:p>
            <a:pPr algn="l">
              <a:lnSpc>
                <a:spcPct val="112000"/>
              </a:lnSpc>
              <a:spcAft>
                <a:spcPts val="600"/>
              </a:spcAft>
            </a:pPr>
            <a:r>
              <a:rPr sz="2800" b="1" i="0">
                <a:solidFill>
                  <a:srgbClr val="2563EB"/>
                </a:solidFill>
                <a:latin typeface="Helvetica Neue"/>
              </a:rPr>
              <a:t>21 m/s</a:t>
            </a:r>
          </a:p>
        </p:txBody>
      </p:sp>
      <p:sp>
        <p:nvSpPr>
          <p:cNvPr id="8" name="TextBox 7"/>
          <p:cNvSpPr txBox="1"/>
          <p:nvPr/>
        </p:nvSpPr>
        <p:spPr>
          <a:xfrm>
            <a:off x="868680" y="2053843"/>
            <a:ext cx="2194560" cy="530352"/>
          </a:xfrm>
          <a:prstGeom prst="rect">
            <a:avLst/>
          </a:prstGeom>
          <a:noFill/>
        </p:spPr>
        <p:txBody>
          <a:bodyPr wrap="square" lIns="0" rIns="0" tIns="0" bIns="0" anchor="t">
            <a:spAutoFit/>
          </a:bodyPr>
          <a:lstStyle/>
          <a:p>
            <a:pPr algn="l">
              <a:lnSpc>
                <a:spcPct val="112000"/>
              </a:lnSpc>
              <a:spcAft>
                <a:spcPts val="200"/>
              </a:spcAft>
            </a:pPr>
            <a:r>
              <a:rPr sz="1200" b="0" i="0">
                <a:solidFill>
                  <a:srgbClr val="44403C"/>
                </a:solidFill>
                <a:latin typeface="Helvetica Neue"/>
              </a:rPr>
              <a:t>A DJI Air 3 in sport mode, the published speed.</a:t>
            </a:r>
          </a:p>
        </p:txBody>
      </p:sp>
      <p:sp>
        <p:nvSpPr>
          <p:cNvPr id="9" name="Rounded Rectangle 8"/>
          <p:cNvSpPr/>
          <p:nvPr/>
        </p:nvSpPr>
        <p:spPr>
          <a:xfrm>
            <a:off x="3438144" y="1444752"/>
            <a:ext cx="2651760" cy="1353312"/>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66744" y="1609344"/>
            <a:ext cx="2194560" cy="594360"/>
          </a:xfrm>
          <a:prstGeom prst="rect">
            <a:avLst/>
          </a:prstGeom>
          <a:noFill/>
        </p:spPr>
        <p:txBody>
          <a:bodyPr wrap="square" lIns="0" rIns="0" tIns="0" bIns="0" anchor="t">
            <a:spAutoFit/>
          </a:bodyPr>
          <a:lstStyle/>
          <a:p>
            <a:pPr algn="l">
              <a:lnSpc>
                <a:spcPct val="112000"/>
              </a:lnSpc>
              <a:spcAft>
                <a:spcPts val="600"/>
              </a:spcAft>
            </a:pPr>
            <a:r>
              <a:rPr sz="2800" b="1" i="0">
                <a:solidFill>
                  <a:srgbClr val="2563EB"/>
                </a:solidFill>
                <a:latin typeface="Helvetica Neue"/>
              </a:rPr>
              <a:t>2.1 m</a:t>
            </a:r>
          </a:p>
        </p:txBody>
      </p:sp>
      <p:sp>
        <p:nvSpPr>
          <p:cNvPr id="11" name="TextBox 10"/>
          <p:cNvSpPr txBox="1"/>
          <p:nvPr/>
        </p:nvSpPr>
        <p:spPr>
          <a:xfrm>
            <a:off x="3666744" y="2053843"/>
            <a:ext cx="2194560" cy="530352"/>
          </a:xfrm>
          <a:prstGeom prst="rect">
            <a:avLst/>
          </a:prstGeom>
          <a:noFill/>
        </p:spPr>
        <p:txBody>
          <a:bodyPr wrap="square" lIns="0" rIns="0" tIns="0" bIns="0" anchor="t">
            <a:spAutoFit/>
          </a:bodyPr>
          <a:lstStyle/>
          <a:p>
            <a:pPr algn="l">
              <a:lnSpc>
                <a:spcPct val="112000"/>
              </a:lnSpc>
              <a:spcAft>
                <a:spcPts val="200"/>
              </a:spcAft>
            </a:pPr>
            <a:r>
              <a:rPr sz="1200" b="0" i="0">
                <a:solidFill>
                  <a:srgbClr val="44403C"/>
                </a:solidFill>
                <a:latin typeface="Helvetica Neue"/>
              </a:rPr>
              <a:t>How far that allows in one 0.1 s frame.</a:t>
            </a:r>
          </a:p>
        </p:txBody>
      </p:sp>
      <p:sp>
        <p:nvSpPr>
          <p:cNvPr id="12" name="Rounded Rectangle 11"/>
          <p:cNvSpPr/>
          <p:nvPr/>
        </p:nvSpPr>
        <p:spPr>
          <a:xfrm>
            <a:off x="6236208" y="1444752"/>
            <a:ext cx="2651760" cy="1353312"/>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609344"/>
            <a:ext cx="2194560" cy="594360"/>
          </a:xfrm>
          <a:prstGeom prst="rect">
            <a:avLst/>
          </a:prstGeom>
          <a:noFill/>
        </p:spPr>
        <p:txBody>
          <a:bodyPr wrap="square" lIns="0" rIns="0" tIns="0" bIns="0" anchor="t">
            <a:spAutoFit/>
          </a:bodyPr>
          <a:lstStyle/>
          <a:p>
            <a:pPr algn="l">
              <a:lnSpc>
                <a:spcPct val="112000"/>
              </a:lnSpc>
              <a:spcAft>
                <a:spcPts val="600"/>
              </a:spcAft>
            </a:pPr>
            <a:r>
              <a:rPr sz="2800" b="1" i="0">
                <a:solidFill>
                  <a:srgbClr val="2563EB"/>
                </a:solidFill>
                <a:latin typeface="Helvetica Neue"/>
              </a:rPr>
              <a:t>+ 4°</a:t>
            </a:r>
          </a:p>
        </p:txBody>
      </p:sp>
      <p:sp>
        <p:nvSpPr>
          <p:cNvPr id="14" name="TextBox 13"/>
          <p:cNvSpPr txBox="1"/>
          <p:nvPr/>
        </p:nvSpPr>
        <p:spPr>
          <a:xfrm>
            <a:off x="6464808" y="2053843"/>
            <a:ext cx="2194560" cy="530352"/>
          </a:xfrm>
          <a:prstGeom prst="rect">
            <a:avLst/>
          </a:prstGeom>
          <a:noFill/>
        </p:spPr>
        <p:txBody>
          <a:bodyPr wrap="square" lIns="0" rIns="0" tIns="0" bIns="0" anchor="t">
            <a:spAutoFit/>
          </a:bodyPr>
          <a:lstStyle/>
          <a:p>
            <a:pPr algn="l">
              <a:lnSpc>
                <a:spcPct val="112000"/>
              </a:lnSpc>
              <a:spcAft>
                <a:spcPts val="200"/>
              </a:spcAft>
            </a:pPr>
            <a:r>
              <a:rPr sz="1200" b="0" i="0">
                <a:solidFill>
                  <a:srgbClr val="44403C"/>
                </a:solidFill>
                <a:latin typeface="Helvetica Neue"/>
              </a:rPr>
              <a:t>One grid cell, on top of the sky-angle cap.</a:t>
            </a:r>
          </a:p>
        </p:txBody>
      </p:sp>
      <p:sp>
        <p:nvSpPr>
          <p:cNvPr id="15" name="Rounded Rectangle 14"/>
          <p:cNvSpPr/>
          <p:nvPr/>
        </p:nvSpPr>
        <p:spPr>
          <a:xfrm>
            <a:off x="9034272" y="1444752"/>
            <a:ext cx="2651760" cy="1353312"/>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62872" y="1609344"/>
            <a:ext cx="2194560" cy="594360"/>
          </a:xfrm>
          <a:prstGeom prst="rect">
            <a:avLst/>
          </a:prstGeom>
          <a:noFill/>
        </p:spPr>
        <p:txBody>
          <a:bodyPr wrap="square" lIns="0" rIns="0" tIns="0" bIns="0" anchor="t">
            <a:spAutoFit/>
          </a:bodyPr>
          <a:lstStyle/>
          <a:p>
            <a:pPr algn="l">
              <a:lnSpc>
                <a:spcPct val="112000"/>
              </a:lnSpc>
              <a:spcAft>
                <a:spcPts val="600"/>
              </a:spcAft>
            </a:pPr>
            <a:r>
              <a:rPr sz="2800" b="1" i="0">
                <a:solidFill>
                  <a:srgbClr val="2563EB"/>
                </a:solidFill>
                <a:latin typeface="Helvetica Neue"/>
              </a:rPr>
              <a:t>0.5 s</a:t>
            </a:r>
          </a:p>
        </p:txBody>
      </p:sp>
      <p:sp>
        <p:nvSpPr>
          <p:cNvPr id="17" name="TextBox 16"/>
          <p:cNvSpPr txBox="1"/>
          <p:nvPr/>
        </p:nvSpPr>
        <p:spPr>
          <a:xfrm>
            <a:off x="9262872" y="2053843"/>
            <a:ext cx="2194560" cy="530352"/>
          </a:xfrm>
          <a:prstGeom prst="rect">
            <a:avLst/>
          </a:prstGeom>
          <a:noFill/>
        </p:spPr>
        <p:txBody>
          <a:bodyPr wrap="square" lIns="0" rIns="0" tIns="0" bIns="0" anchor="t">
            <a:spAutoFit/>
          </a:bodyPr>
          <a:lstStyle/>
          <a:p>
            <a:pPr algn="l">
              <a:lnSpc>
                <a:spcPct val="112000"/>
              </a:lnSpc>
              <a:spcAft>
                <a:spcPts val="200"/>
              </a:spcAft>
            </a:pPr>
            <a:r>
              <a:rPr sz="1200" b="0" i="0">
                <a:solidFill>
                  <a:srgbClr val="44403C"/>
                </a:solidFill>
                <a:latin typeface="Helvetica Neue"/>
              </a:rPr>
              <a:t>Five frames outside the cap before a jump is kept.</a:t>
            </a:r>
          </a:p>
        </p:txBody>
      </p:sp>
      <p:sp>
        <p:nvSpPr>
          <p:cNvPr id="18" name="Rounded Rectangle 17"/>
          <p:cNvSpPr/>
          <p:nvPr/>
        </p:nvSpPr>
        <p:spPr>
          <a:xfrm>
            <a:off x="640080" y="2944368"/>
            <a:ext cx="5532120" cy="3246120"/>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072384"/>
            <a:ext cx="5074920" cy="292608"/>
          </a:xfrm>
          <a:prstGeom prst="rect">
            <a:avLst/>
          </a:prstGeom>
          <a:noFill/>
        </p:spPr>
        <p:txBody>
          <a:bodyPr wrap="square" lIns="0" rIns="0" tIns="0" bIns="0" anchor="t">
            <a:spAutoFit/>
          </a:bodyPr>
          <a:lstStyle/>
          <a:p>
            <a:pPr algn="l">
              <a:lnSpc>
                <a:spcPct val="112000"/>
              </a:lnSpc>
              <a:spcAft>
                <a:spcPts val="600"/>
              </a:spcAft>
            </a:pPr>
            <a:r>
              <a:rPr sz="1500" b="1" i="0">
                <a:solidFill>
                  <a:srgbClr val="1C1917"/>
                </a:solidFill>
                <a:latin typeface="Helvetica Neue"/>
              </a:rPr>
              <a:t>When the stored direction moves</a:t>
            </a:r>
          </a:p>
        </p:txBody>
      </p:sp>
      <p:sp>
        <p:nvSpPr>
          <p:cNvPr id="20" name="TextBox 19"/>
          <p:cNvSpPr txBox="1"/>
          <p:nvPr/>
        </p:nvSpPr>
        <p:spPr>
          <a:xfrm>
            <a:off x="868680" y="3419856"/>
            <a:ext cx="5074920" cy="2606040"/>
          </a:xfrm>
          <a:prstGeom prst="rect">
            <a:avLst/>
          </a:prstGeom>
          <a:noFill/>
        </p:spPr>
        <p:txBody>
          <a:bodyPr wrap="square" lIns="0" rIns="0" tIns="0" bIns="0" anchor="t">
            <a:spAutoFit/>
          </a:bodyPr>
          <a:lstStyle/>
          <a:p>
            <a:pPr algn="l">
              <a:lnSpc>
                <a:spcPct val="112000"/>
              </a:lnSpc>
              <a:spcAft>
                <a:spcPts val="800"/>
              </a:spcAft>
            </a:pPr>
            <a:r>
              <a:rPr sz="700" b="0" i="0">
                <a:solidFill>
                  <a:srgbClr val="2563EB"/>
                </a:solidFill>
                <a:latin typeface="Helvetica Neue"/>
              </a:rPr>
              <a:t>●   </a:t>
            </a:r>
            <a:r>
              <a:rPr sz="1300" b="0" i="0">
                <a:solidFill>
                  <a:srgbClr val="44403C"/>
                </a:solidFill>
                <a:latin typeface="Helvetica Neue"/>
              </a:rPr>
              <a:t>It runs after the mask, on the decoded direction. It is not an input channel, and not a reason to retrain.</a:t>
            </a:r>
          </a:p>
          <a:p>
            <a:pPr algn="l">
              <a:lnSpc>
                <a:spcPct val="112000"/>
              </a:lnSpc>
              <a:spcAft>
                <a:spcPts val="800"/>
              </a:spcAft>
            </a:pPr>
            <a:r>
              <a:rPr sz="700" b="0" i="0">
                <a:solidFill>
                  <a:srgbClr val="2563EB"/>
                </a:solidFill>
                <a:latin typeface="Helvetica Neue"/>
              </a:rPr>
              <a:t>●   </a:t>
            </a:r>
            <a:r>
              <a:rPr sz="1300" b="0" i="0">
                <a:solidFill>
                  <a:srgbClr val="44403C"/>
                </a:solidFill>
                <a:latin typeface="Helvetica Neue"/>
              </a:rPr>
              <a:t>Inside the cap the stored direction updates at once. The cap is the sky angle of 2.1 m at the GPS range, plus one 4° cell.</a:t>
            </a:r>
          </a:p>
          <a:p>
            <a:pPr algn="l">
              <a:lnSpc>
                <a:spcPct val="112000"/>
              </a:lnSpc>
              <a:spcAft>
                <a:spcPts val="800"/>
              </a:spcAft>
            </a:pPr>
            <a:r>
              <a:rPr sz="700" b="0" i="0">
                <a:solidFill>
                  <a:srgbClr val="2563EB"/>
                </a:solidFill>
                <a:latin typeface="Helvetica Neue"/>
              </a:rPr>
              <a:t>●   </a:t>
            </a:r>
            <a:r>
              <a:rPr sz="1300" b="0" i="0">
                <a:solidFill>
                  <a:srgbClr val="44403C"/>
                </a:solidFill>
                <a:latin typeface="Helvetica Neue"/>
              </a:rPr>
              <a:t>A hard hold with no second chance wrecks the score. Some large jumps are the model correcting itself.</a:t>
            </a:r>
          </a:p>
          <a:p>
            <a:pPr algn="l">
              <a:lnSpc>
                <a:spcPct val="112000"/>
              </a:lnSpc>
              <a:spcAft>
                <a:spcPts val="800"/>
              </a:spcAft>
            </a:pPr>
            <a:r>
              <a:rPr sz="700" b="0" i="0">
                <a:solidFill>
                  <a:srgbClr val="2563EB"/>
                </a:solidFill>
                <a:latin typeface="Helvetica Neue"/>
              </a:rPr>
              <a:t>●   </a:t>
            </a:r>
            <a:r>
              <a:rPr sz="1300" b="0" i="0">
                <a:solidFill>
                  <a:srgbClr val="44403C"/>
                </a:solidFill>
                <a:latin typeface="Helvetica Neue"/>
              </a:rPr>
              <a:t>A fixed 16° cap, with no range, landed within about a point of this rule on the same-site 24-microphone run.</a:t>
            </a:r>
          </a:p>
        </p:txBody>
      </p:sp>
      <p:sp>
        <p:nvSpPr>
          <p:cNvPr id="21" name="Rounded Rectangle 20"/>
          <p:cNvSpPr/>
          <p:nvPr/>
        </p:nvSpPr>
        <p:spPr>
          <a:xfrm>
            <a:off x="6355080" y="2944368"/>
            <a:ext cx="5212080" cy="3246120"/>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072384"/>
            <a:ext cx="4800600" cy="292608"/>
          </a:xfrm>
          <a:prstGeom prst="rect">
            <a:avLst/>
          </a:prstGeom>
          <a:noFill/>
        </p:spPr>
        <p:txBody>
          <a:bodyPr wrap="square" lIns="0" rIns="0" tIns="0" bIns="0" anchor="t">
            <a:spAutoFit/>
          </a:bodyPr>
          <a:lstStyle/>
          <a:p>
            <a:pPr algn="l">
              <a:lnSpc>
                <a:spcPct val="112000"/>
              </a:lnSpc>
              <a:spcAft>
                <a:spcPts val="600"/>
              </a:spcAft>
            </a:pPr>
            <a:r>
              <a:rPr sz="1500" b="1" i="0">
                <a:solidFill>
                  <a:srgbClr val="1C1917"/>
                </a:solidFill>
                <a:latin typeface="Helvetica Neue"/>
              </a:rPr>
              <a:t>What the history was doing</a:t>
            </a:r>
          </a:p>
        </p:txBody>
      </p:sp>
      <p:sp>
        <p:nvSpPr>
          <p:cNvPr id="23" name="TextBox 22"/>
          <p:cNvSpPr txBox="1"/>
          <p:nvPr/>
        </p:nvSpPr>
        <p:spPr>
          <a:xfrm>
            <a:off x="6583680" y="3383280"/>
            <a:ext cx="4800600" cy="329184"/>
          </a:xfrm>
          <a:prstGeom prst="rect">
            <a:avLst/>
          </a:prstGeom>
          <a:noFill/>
        </p:spPr>
        <p:txBody>
          <a:bodyPr wrap="square" lIns="0" rIns="0" tIns="0" bIns="0" anchor="t">
            <a:spAutoFit/>
          </a:bodyPr>
          <a:lstStyle/>
          <a:p>
            <a:pPr algn="l">
              <a:lnSpc>
                <a:spcPct val="112000"/>
              </a:lnSpc>
              <a:spcAft>
                <a:spcPts val="600"/>
              </a:spcAft>
            </a:pPr>
            <a:r>
              <a:rPr sz="1300" b="0" i="0">
                <a:solidFill>
                  <a:srgbClr val="78716C"/>
                </a:solidFill>
                <a:latin typeface="Helvetica Neue"/>
              </a:rPr>
              <a:t>Hit rate, on weights already trained. Not the paper’s mean angle.</a:t>
            </a:r>
          </a:p>
        </p:txBody>
      </p:sp>
      <p:sp>
        <p:nvSpPr>
          <p:cNvPr id="24" name="TextBox 23"/>
          <p:cNvSpPr txBox="1"/>
          <p:nvPr/>
        </p:nvSpPr>
        <p:spPr>
          <a:xfrm>
            <a:off x="6583680" y="3767328"/>
            <a:ext cx="4800600" cy="2240280"/>
          </a:xfrm>
          <a:prstGeom prst="rect">
            <a:avLst/>
          </a:prstGeom>
          <a:noFill/>
        </p:spPr>
        <p:txBody>
          <a:bodyPr wrap="square" lIns="0" rIns="0" tIns="0" bIns="0" anchor="t">
            <a:spAutoFit/>
          </a:bodyPr>
          <a:lstStyle/>
          <a:p>
            <a:pPr algn="l">
              <a:lnSpc>
                <a:spcPct val="112000"/>
              </a:lnSpc>
              <a:spcAft>
                <a:spcPts val="800"/>
              </a:spcAft>
            </a:pPr>
            <a:r>
              <a:rPr sz="700" b="0" i="0">
                <a:solidFill>
                  <a:srgbClr val="2563EB"/>
                </a:solidFill>
                <a:latin typeface="Helvetica Neue"/>
              </a:rPr>
              <a:t>●   </a:t>
            </a:r>
            <a:r>
              <a:rPr sz="1300" b="0" i="0">
                <a:solidFill>
                  <a:srgbClr val="44403C"/>
                </a:solidFill>
                <a:latin typeface="Helvetica Neue"/>
              </a:rPr>
              <a:t>Corrupting the past of the K = 5 models costs 4.3 points. The climb ends near 0.8 s.</a:t>
            </a:r>
          </a:p>
          <a:p>
            <a:pPr algn="l">
              <a:lnSpc>
                <a:spcPct val="112000"/>
              </a:lnSpc>
              <a:spcAft>
                <a:spcPts val="800"/>
              </a:spcAft>
            </a:pPr>
            <a:r>
              <a:rPr sz="700" b="0" i="0">
                <a:solidFill>
                  <a:srgbClr val="2563EB"/>
                </a:solidFill>
                <a:latin typeface="Helvetica Neue"/>
              </a:rPr>
              <a:t>●   </a:t>
            </a:r>
            <a:r>
              <a:rPr sz="1300" b="0" i="0">
                <a:solidFill>
                  <a:srgbClr val="44403C"/>
                </a:solidFill>
                <a:latin typeface="Helvetica Neue"/>
              </a:rPr>
              <a:t>Deleting history from the K = 9 weights costs 5.1 points, block-resampled, Holm-adjusted p = 0.0007.</a:t>
            </a:r>
          </a:p>
          <a:p>
            <a:pPr algn="l">
              <a:lnSpc>
                <a:spcPct val="112000"/>
              </a:lnSpc>
              <a:spcAft>
                <a:spcPts val="800"/>
              </a:spcAft>
            </a:pPr>
            <a:r>
              <a:rPr sz="700" b="0" i="0">
                <a:solidFill>
                  <a:srgbClr val="2563EB"/>
                </a:solidFill>
                <a:latin typeface="Helvetica Neue"/>
              </a:rPr>
              <a:t>●   </a:t>
            </a:r>
            <a:r>
              <a:rPr sz="1300" b="0" i="0">
                <a:solidFill>
                  <a:srgbClr val="44403C"/>
                </a:solidFill>
                <a:latin typeface="Helvetica Neue"/>
              </a:rPr>
              <a:t>About +0.5 inside 30 m, +8.7 at 60–90 m, and +21.8 at 90–120 m. Order does not matter. The cue is persistence.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640080" y="411480"/>
            <a:ext cx="9144000" cy="274320"/>
          </a:xfrm>
          <a:prstGeom prst="rect">
            <a:avLst/>
          </a:prstGeom>
          <a:noFill/>
        </p:spPr>
        <p:txBody>
          <a:bodyPr wrap="square" lIns="0" rIns="0" tIns="0" bIns="0" anchor="t">
            <a:spAutoFit/>
          </a:bodyPr>
          <a:lstStyle/>
          <a:p>
            <a:pPr algn="l">
              <a:lnSpc>
                <a:spcPct val="112000"/>
              </a:lnSpc>
              <a:spcAft>
                <a:spcPts val="600"/>
              </a:spcAft>
            </a:pPr>
            <a:r>
              <a:rPr sz="1100" b="1" i="0">
                <a:solidFill>
                  <a:srgbClr val="2563EB"/>
                </a:solidFill>
                <a:latin typeface="Helvetica Neue"/>
              </a:rPr>
              <a:t>05   ·   AGAINST THE PAPER</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lnSpc>
                <a:spcPct val="112000"/>
              </a:lnSpc>
              <a:spcAft>
                <a:spcPts val="600"/>
              </a:spcAft>
            </a:pPr>
            <a:r>
              <a:rPr sz="3000" b="1" i="0">
                <a:solidFill>
                  <a:srgbClr val="1C1917"/>
                </a:solidFill>
                <a:latin typeface="Helvetica Neue"/>
              </a:rPr>
              <a:t>Mean angular error, on their terms</a:t>
            </a:r>
          </a:p>
        </p:txBody>
      </p:sp>
      <p:sp>
        <p:nvSpPr>
          <p:cNvPr id="4" name="TextBox 3"/>
          <p:cNvSpPr txBox="1"/>
          <p:nvPr/>
        </p:nvSpPr>
        <p:spPr>
          <a:xfrm>
            <a:off x="640080" y="6419088"/>
            <a:ext cx="7315200" cy="228600"/>
          </a:xfrm>
          <a:prstGeom prst="rect">
            <a:avLst/>
          </a:prstGeom>
          <a:noFill/>
        </p:spPr>
        <p:txBody>
          <a:bodyPr wrap="square" lIns="0" rIns="0" tIns="0" bIns="0" anchor="t">
            <a:spAutoFit/>
          </a:bodyPr>
          <a:lstStyle/>
          <a:p>
            <a:pPr algn="l">
              <a:lnSpc>
                <a:spcPct val="112000"/>
              </a:lnSpc>
              <a:spcAft>
                <a:spcPts val="600"/>
              </a:spcAft>
            </a:pPr>
            <a:r>
              <a:rPr sz="900" b="0" i="0">
                <a:solidFill>
                  <a:srgbClr val="78716C"/>
                </a:solidFill>
                <a:latin typeface="Helvetica Neue"/>
              </a:rPr>
              <a:t>Hearing drones in 3D  ·  Livshits &amp; Masad</a:t>
            </a:r>
          </a:p>
        </p:txBody>
      </p:sp>
      <p:sp>
        <p:nvSpPr>
          <p:cNvPr id="5" name="TextBox 4"/>
          <p:cNvSpPr txBox="1"/>
          <p:nvPr/>
        </p:nvSpPr>
        <p:spPr>
          <a:xfrm>
            <a:off x="10634472" y="6419088"/>
            <a:ext cx="914400" cy="228600"/>
          </a:xfrm>
          <a:prstGeom prst="rect">
            <a:avLst/>
          </a:prstGeom>
          <a:noFill/>
        </p:spPr>
        <p:txBody>
          <a:bodyPr wrap="square" lIns="0" rIns="0" tIns="0" bIns="0" anchor="t">
            <a:spAutoFit/>
          </a:bodyPr>
          <a:lstStyle/>
          <a:p>
            <a:pPr algn="r">
              <a:lnSpc>
                <a:spcPct val="112000"/>
              </a:lnSpc>
              <a:spcAft>
                <a:spcPts val="600"/>
              </a:spcAft>
            </a:pPr>
            <a:r>
              <a:rPr sz="900" b="0" i="0">
                <a:solidFill>
                  <a:srgbClr val="78716C"/>
                </a:solidFill>
                <a:latin typeface="Helvetica Neue"/>
              </a:rPr>
              <a:t>6 / 8</a:t>
            </a:r>
          </a:p>
        </p:txBody>
      </p:sp>
      <p:sp>
        <p:nvSpPr>
          <p:cNvPr id="6" name="TextBox 5"/>
          <p:cNvSpPr txBox="1"/>
          <p:nvPr/>
        </p:nvSpPr>
        <p:spPr>
          <a:xfrm>
            <a:off x="640080" y="1207008"/>
            <a:ext cx="10972800" cy="438912"/>
          </a:xfrm>
          <a:prstGeom prst="rect">
            <a:avLst/>
          </a:prstGeom>
          <a:noFill/>
        </p:spPr>
        <p:txBody>
          <a:bodyPr wrap="square" lIns="0" rIns="0" tIns="0" bIns="0" anchor="t">
            <a:spAutoFit/>
          </a:bodyPr>
          <a:lstStyle/>
          <a:p>
            <a:pPr algn="l">
              <a:lnSpc>
                <a:spcPct val="105000"/>
              </a:lnSpc>
              <a:spcAft>
                <a:spcPts val="600"/>
              </a:spcAft>
            </a:pPr>
            <a:r>
              <a:rPr sz="1300" b="0" i="0">
                <a:solidFill>
                  <a:srgbClr val="44403C"/>
                </a:solidFill>
                <a:latin typeface="Helvetica Neue"/>
              </a:rPr>
              <a:t>Their metric only. U-Net rows are stable frames: the last three directions within 10°. Delay-and-sum is every frame. The lower block is the new site, a second look. Matched-site U-Net cells are the range over three seeds.</a:t>
            </a:r>
          </a:p>
        </p:txBody>
      </p:sp>
      <p:sp>
        <p:nvSpPr>
          <p:cNvPr id="7" name="TextBox 6"/>
          <p:cNvSpPr txBox="1"/>
          <p:nvPr/>
        </p:nvSpPr>
        <p:spPr>
          <a:xfrm>
            <a:off x="640080" y="1682496"/>
            <a:ext cx="3922776" cy="420624"/>
          </a:xfrm>
          <a:prstGeom prst="rect">
            <a:avLst/>
          </a:prstGeom>
          <a:noFill/>
        </p:spPr>
        <p:txBody>
          <a:bodyPr wrap="square" lIns="0" rIns="0" tIns="0" bIns="0" anchor="t">
            <a:spAutoFit/>
          </a:bodyPr>
          <a:lstStyle/>
          <a:p>
            <a:pPr algn="l">
              <a:lnSpc>
                <a:spcPct val="105000"/>
              </a:lnSpc>
              <a:spcAft>
                <a:spcPts val="0"/>
              </a:spcAft>
            </a:pPr>
            <a:r>
              <a:rPr sz="1100" b="1" i="0">
                <a:solidFill>
                  <a:srgbClr val="78716C"/>
                </a:solidFill>
                <a:latin typeface="Helvetica Neue"/>
              </a:rPr>
              <a:t>mean angular error</a:t>
            </a:r>
          </a:p>
        </p:txBody>
      </p:sp>
      <p:sp>
        <p:nvSpPr>
          <p:cNvPr id="8" name="TextBox 7"/>
          <p:cNvSpPr txBox="1"/>
          <p:nvPr/>
        </p:nvSpPr>
        <p:spPr>
          <a:xfrm>
            <a:off x="4617720" y="1682496"/>
            <a:ext cx="1911095"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site</a:t>
            </a:r>
          </a:p>
        </p:txBody>
      </p:sp>
      <p:sp>
        <p:nvSpPr>
          <p:cNvPr id="9" name="TextBox 8"/>
          <p:cNvSpPr txBox="1"/>
          <p:nvPr/>
        </p:nvSpPr>
        <p:spPr>
          <a:xfrm>
            <a:off x="6583679" y="1682496"/>
            <a:ext cx="1591056"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0–50 m</a:t>
            </a:r>
          </a:p>
        </p:txBody>
      </p:sp>
      <p:sp>
        <p:nvSpPr>
          <p:cNvPr id="10" name="TextBox 9"/>
          <p:cNvSpPr txBox="1"/>
          <p:nvPr/>
        </p:nvSpPr>
        <p:spPr>
          <a:xfrm>
            <a:off x="8229600" y="1682496"/>
            <a:ext cx="1591056"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50–100 m</a:t>
            </a:r>
          </a:p>
        </p:txBody>
      </p:sp>
      <p:sp>
        <p:nvSpPr>
          <p:cNvPr id="11" name="TextBox 10"/>
          <p:cNvSpPr txBox="1"/>
          <p:nvPr/>
        </p:nvSpPr>
        <p:spPr>
          <a:xfrm>
            <a:off x="9875520" y="1682496"/>
            <a:ext cx="1591056"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100–200 m</a:t>
            </a:r>
          </a:p>
        </p:txBody>
      </p:sp>
      <p:cxnSp>
        <p:nvCxnSpPr>
          <p:cNvPr id="12" name="Connector 11"/>
          <p:cNvCxnSpPr/>
          <p:nvPr/>
        </p:nvCxnSpPr>
        <p:spPr>
          <a:xfrm>
            <a:off x="640080" y="2139696"/>
            <a:ext cx="10881360" cy="0"/>
          </a:xfrm>
          <a:prstGeom prst="line">
            <a:avLst/>
          </a:prstGeom>
          <a:ln w="9525">
            <a:solidFill>
              <a:srgbClr val="78716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2231136"/>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Paper, delay-and-sum</a:t>
            </a:r>
          </a:p>
        </p:txBody>
      </p:sp>
      <p:sp>
        <p:nvSpPr>
          <p:cNvPr id="14" name="TextBox 13"/>
          <p:cNvSpPr txBox="1"/>
          <p:nvPr/>
        </p:nvSpPr>
        <p:spPr>
          <a:xfrm>
            <a:off x="4617720" y="2231136"/>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matched</a:t>
            </a:r>
          </a:p>
        </p:txBody>
      </p:sp>
      <p:sp>
        <p:nvSpPr>
          <p:cNvPr id="15" name="TextBox 14"/>
          <p:cNvSpPr txBox="1"/>
          <p:nvPr/>
        </p:nvSpPr>
        <p:spPr>
          <a:xfrm>
            <a:off x="6583679" y="2231136"/>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38°</a:t>
            </a:r>
          </a:p>
        </p:txBody>
      </p:sp>
      <p:sp>
        <p:nvSpPr>
          <p:cNvPr id="16" name="TextBox 15"/>
          <p:cNvSpPr txBox="1"/>
          <p:nvPr/>
        </p:nvSpPr>
        <p:spPr>
          <a:xfrm>
            <a:off x="8229600" y="2231136"/>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75°</a:t>
            </a:r>
          </a:p>
        </p:txBody>
      </p:sp>
      <p:sp>
        <p:nvSpPr>
          <p:cNvPr id="17" name="TextBox 16"/>
          <p:cNvSpPr txBox="1"/>
          <p:nvPr/>
        </p:nvSpPr>
        <p:spPr>
          <a:xfrm>
            <a:off x="9875520" y="2231136"/>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33°</a:t>
            </a:r>
          </a:p>
        </p:txBody>
      </p:sp>
      <p:cxnSp>
        <p:nvCxnSpPr>
          <p:cNvPr id="18" name="Connector 17"/>
          <p:cNvCxnSpPr/>
          <p:nvPr/>
        </p:nvCxnSpPr>
        <p:spPr>
          <a:xfrm>
            <a:off x="640080" y="2542032"/>
            <a:ext cx="10881360"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0080" y="2615184"/>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Ours, delay-and-sum, 24</a:t>
            </a:r>
          </a:p>
        </p:txBody>
      </p:sp>
      <p:sp>
        <p:nvSpPr>
          <p:cNvPr id="20" name="TextBox 19"/>
          <p:cNvSpPr txBox="1"/>
          <p:nvPr/>
        </p:nvSpPr>
        <p:spPr>
          <a:xfrm>
            <a:off x="4617720" y="2615184"/>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matched</a:t>
            </a:r>
          </a:p>
        </p:txBody>
      </p:sp>
      <p:sp>
        <p:nvSpPr>
          <p:cNvPr id="21" name="TextBox 20"/>
          <p:cNvSpPr txBox="1"/>
          <p:nvPr/>
        </p:nvSpPr>
        <p:spPr>
          <a:xfrm>
            <a:off x="6583679" y="2615184"/>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40°</a:t>
            </a:r>
          </a:p>
        </p:txBody>
      </p:sp>
      <p:sp>
        <p:nvSpPr>
          <p:cNvPr id="22" name="TextBox 21"/>
          <p:cNvSpPr txBox="1"/>
          <p:nvPr/>
        </p:nvSpPr>
        <p:spPr>
          <a:xfrm>
            <a:off x="8229600" y="2615184"/>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72°</a:t>
            </a:r>
          </a:p>
        </p:txBody>
      </p:sp>
      <p:sp>
        <p:nvSpPr>
          <p:cNvPr id="23" name="TextBox 22"/>
          <p:cNvSpPr txBox="1"/>
          <p:nvPr/>
        </p:nvSpPr>
        <p:spPr>
          <a:xfrm>
            <a:off x="9875520" y="2615184"/>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31°</a:t>
            </a:r>
          </a:p>
        </p:txBody>
      </p:sp>
      <p:cxnSp>
        <p:nvCxnSpPr>
          <p:cNvPr id="24" name="Connector 23"/>
          <p:cNvCxnSpPr/>
          <p:nvPr/>
        </p:nvCxnSpPr>
        <p:spPr>
          <a:xfrm>
            <a:off x="640080" y="2926079"/>
            <a:ext cx="10881360"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2999232"/>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Paper, U-Net, stable</a:t>
            </a:r>
          </a:p>
        </p:txBody>
      </p:sp>
      <p:sp>
        <p:nvSpPr>
          <p:cNvPr id="26" name="TextBox 25"/>
          <p:cNvSpPr txBox="1"/>
          <p:nvPr/>
        </p:nvSpPr>
        <p:spPr>
          <a:xfrm>
            <a:off x="4617720" y="2999232"/>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matched</a:t>
            </a:r>
          </a:p>
        </p:txBody>
      </p:sp>
      <p:sp>
        <p:nvSpPr>
          <p:cNvPr id="27" name="TextBox 26"/>
          <p:cNvSpPr txBox="1"/>
          <p:nvPr/>
        </p:nvSpPr>
        <p:spPr>
          <a:xfrm>
            <a:off x="6583679" y="2999232"/>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10°</a:t>
            </a:r>
          </a:p>
        </p:txBody>
      </p:sp>
      <p:sp>
        <p:nvSpPr>
          <p:cNvPr id="28" name="TextBox 27"/>
          <p:cNvSpPr txBox="1"/>
          <p:nvPr/>
        </p:nvSpPr>
        <p:spPr>
          <a:xfrm>
            <a:off x="8229600" y="2999232"/>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13°</a:t>
            </a:r>
          </a:p>
        </p:txBody>
      </p:sp>
      <p:sp>
        <p:nvSpPr>
          <p:cNvPr id="29" name="TextBox 28"/>
          <p:cNvSpPr txBox="1"/>
          <p:nvPr/>
        </p:nvSpPr>
        <p:spPr>
          <a:xfrm>
            <a:off x="9875520" y="2999232"/>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14°</a:t>
            </a:r>
          </a:p>
        </p:txBody>
      </p:sp>
      <p:cxnSp>
        <p:nvCxnSpPr>
          <p:cNvPr id="30" name="Connector 29"/>
          <p:cNvCxnSpPr/>
          <p:nvPr/>
        </p:nvCxnSpPr>
        <p:spPr>
          <a:xfrm>
            <a:off x="640080" y="3310127"/>
            <a:ext cx="10881360"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3383280"/>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Ours, U-Net 24, stable</a:t>
            </a:r>
          </a:p>
        </p:txBody>
      </p:sp>
      <p:sp>
        <p:nvSpPr>
          <p:cNvPr id="32" name="TextBox 31"/>
          <p:cNvSpPr txBox="1"/>
          <p:nvPr/>
        </p:nvSpPr>
        <p:spPr>
          <a:xfrm>
            <a:off x="4617720" y="3383280"/>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matched</a:t>
            </a:r>
          </a:p>
        </p:txBody>
      </p:sp>
      <p:sp>
        <p:nvSpPr>
          <p:cNvPr id="33" name="TextBox 32"/>
          <p:cNvSpPr txBox="1"/>
          <p:nvPr/>
        </p:nvSpPr>
        <p:spPr>
          <a:xfrm>
            <a:off x="6583679" y="3383280"/>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7–10°</a:t>
            </a:r>
          </a:p>
        </p:txBody>
      </p:sp>
      <p:sp>
        <p:nvSpPr>
          <p:cNvPr id="34" name="TextBox 33"/>
          <p:cNvSpPr txBox="1"/>
          <p:nvPr/>
        </p:nvSpPr>
        <p:spPr>
          <a:xfrm>
            <a:off x="8229600" y="3383280"/>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9–12°</a:t>
            </a:r>
          </a:p>
        </p:txBody>
      </p:sp>
      <p:sp>
        <p:nvSpPr>
          <p:cNvPr id="35" name="TextBox 34"/>
          <p:cNvSpPr txBox="1"/>
          <p:nvPr/>
        </p:nvSpPr>
        <p:spPr>
          <a:xfrm>
            <a:off x="9875520" y="3383280"/>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31–74°</a:t>
            </a:r>
          </a:p>
        </p:txBody>
      </p:sp>
      <p:cxnSp>
        <p:nvCxnSpPr>
          <p:cNvPr id="36" name="Connector 35"/>
          <p:cNvCxnSpPr/>
          <p:nvPr/>
        </p:nvCxnSpPr>
        <p:spPr>
          <a:xfrm>
            <a:off x="640080" y="3694176"/>
            <a:ext cx="10881360"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40080" y="3767328"/>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Paper, delay-and-sum</a:t>
            </a:r>
          </a:p>
        </p:txBody>
      </p:sp>
      <p:sp>
        <p:nvSpPr>
          <p:cNvPr id="38" name="TextBox 37"/>
          <p:cNvSpPr txBox="1"/>
          <p:nvPr/>
        </p:nvSpPr>
        <p:spPr>
          <a:xfrm>
            <a:off x="4617720" y="3767328"/>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new, second look</a:t>
            </a:r>
          </a:p>
        </p:txBody>
      </p:sp>
      <p:sp>
        <p:nvSpPr>
          <p:cNvPr id="39" name="TextBox 38"/>
          <p:cNvSpPr txBox="1"/>
          <p:nvPr/>
        </p:nvSpPr>
        <p:spPr>
          <a:xfrm>
            <a:off x="6583679" y="3767328"/>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8°</a:t>
            </a:r>
          </a:p>
        </p:txBody>
      </p:sp>
      <p:sp>
        <p:nvSpPr>
          <p:cNvPr id="40" name="TextBox 39"/>
          <p:cNvSpPr txBox="1"/>
          <p:nvPr/>
        </p:nvSpPr>
        <p:spPr>
          <a:xfrm>
            <a:off x="8229600" y="3767328"/>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29°</a:t>
            </a:r>
          </a:p>
        </p:txBody>
      </p:sp>
      <p:sp>
        <p:nvSpPr>
          <p:cNvPr id="41" name="TextBox 40"/>
          <p:cNvSpPr txBox="1"/>
          <p:nvPr/>
        </p:nvSpPr>
        <p:spPr>
          <a:xfrm>
            <a:off x="9875520" y="3767328"/>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92°</a:t>
            </a:r>
          </a:p>
        </p:txBody>
      </p:sp>
      <p:cxnSp>
        <p:nvCxnSpPr>
          <p:cNvPr id="42" name="Connector 41"/>
          <p:cNvCxnSpPr/>
          <p:nvPr/>
        </p:nvCxnSpPr>
        <p:spPr>
          <a:xfrm>
            <a:off x="640080" y="4078224"/>
            <a:ext cx="10881360"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0080" y="4151376"/>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Ours, delay-and-sum, 24</a:t>
            </a:r>
          </a:p>
        </p:txBody>
      </p:sp>
      <p:sp>
        <p:nvSpPr>
          <p:cNvPr id="44" name="TextBox 43"/>
          <p:cNvSpPr txBox="1"/>
          <p:nvPr/>
        </p:nvSpPr>
        <p:spPr>
          <a:xfrm>
            <a:off x="4617720" y="4151376"/>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new, second look</a:t>
            </a:r>
          </a:p>
        </p:txBody>
      </p:sp>
      <p:sp>
        <p:nvSpPr>
          <p:cNvPr id="45" name="TextBox 44"/>
          <p:cNvSpPr txBox="1"/>
          <p:nvPr/>
        </p:nvSpPr>
        <p:spPr>
          <a:xfrm>
            <a:off x="6583679" y="4151376"/>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9°</a:t>
            </a:r>
          </a:p>
        </p:txBody>
      </p:sp>
      <p:sp>
        <p:nvSpPr>
          <p:cNvPr id="46" name="TextBox 45"/>
          <p:cNvSpPr txBox="1"/>
          <p:nvPr/>
        </p:nvSpPr>
        <p:spPr>
          <a:xfrm>
            <a:off x="8229600" y="4151376"/>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23°</a:t>
            </a:r>
          </a:p>
        </p:txBody>
      </p:sp>
      <p:sp>
        <p:nvSpPr>
          <p:cNvPr id="47" name="TextBox 46"/>
          <p:cNvSpPr txBox="1"/>
          <p:nvPr/>
        </p:nvSpPr>
        <p:spPr>
          <a:xfrm>
            <a:off x="9875520" y="4151376"/>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83°</a:t>
            </a:r>
          </a:p>
        </p:txBody>
      </p:sp>
      <p:cxnSp>
        <p:nvCxnSpPr>
          <p:cNvPr id="48" name="Connector 47"/>
          <p:cNvCxnSpPr/>
          <p:nvPr/>
        </p:nvCxnSpPr>
        <p:spPr>
          <a:xfrm>
            <a:off x="640080" y="4462272"/>
            <a:ext cx="10881360"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40080" y="4535424"/>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Paper, U-Net, stable</a:t>
            </a:r>
          </a:p>
        </p:txBody>
      </p:sp>
      <p:sp>
        <p:nvSpPr>
          <p:cNvPr id="50" name="TextBox 49"/>
          <p:cNvSpPr txBox="1"/>
          <p:nvPr/>
        </p:nvSpPr>
        <p:spPr>
          <a:xfrm>
            <a:off x="4617720" y="4535424"/>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new, second look</a:t>
            </a:r>
          </a:p>
        </p:txBody>
      </p:sp>
      <p:sp>
        <p:nvSpPr>
          <p:cNvPr id="51" name="TextBox 50"/>
          <p:cNvSpPr txBox="1"/>
          <p:nvPr/>
        </p:nvSpPr>
        <p:spPr>
          <a:xfrm>
            <a:off x="6583679" y="4535424"/>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12°</a:t>
            </a:r>
          </a:p>
        </p:txBody>
      </p:sp>
      <p:sp>
        <p:nvSpPr>
          <p:cNvPr id="52" name="TextBox 51"/>
          <p:cNvSpPr txBox="1"/>
          <p:nvPr/>
        </p:nvSpPr>
        <p:spPr>
          <a:xfrm>
            <a:off x="8229600" y="4535424"/>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24°</a:t>
            </a:r>
          </a:p>
        </p:txBody>
      </p:sp>
      <p:sp>
        <p:nvSpPr>
          <p:cNvPr id="53" name="TextBox 52"/>
          <p:cNvSpPr txBox="1"/>
          <p:nvPr/>
        </p:nvSpPr>
        <p:spPr>
          <a:xfrm>
            <a:off x="9875520" y="4535424"/>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54°</a:t>
            </a:r>
          </a:p>
        </p:txBody>
      </p:sp>
      <p:cxnSp>
        <p:nvCxnSpPr>
          <p:cNvPr id="54" name="Connector 53"/>
          <p:cNvCxnSpPr/>
          <p:nvPr/>
        </p:nvCxnSpPr>
        <p:spPr>
          <a:xfrm>
            <a:off x="640080" y="4846320"/>
            <a:ext cx="10881360"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40080" y="4919472"/>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Ours, 24 mics, K = 1, stable</a:t>
            </a:r>
          </a:p>
        </p:txBody>
      </p:sp>
      <p:sp>
        <p:nvSpPr>
          <p:cNvPr id="56" name="TextBox 55"/>
          <p:cNvSpPr txBox="1"/>
          <p:nvPr/>
        </p:nvSpPr>
        <p:spPr>
          <a:xfrm>
            <a:off x="4617720" y="4919472"/>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new, second look</a:t>
            </a:r>
          </a:p>
        </p:txBody>
      </p:sp>
      <p:sp>
        <p:nvSpPr>
          <p:cNvPr id="57" name="TextBox 56"/>
          <p:cNvSpPr txBox="1"/>
          <p:nvPr/>
        </p:nvSpPr>
        <p:spPr>
          <a:xfrm>
            <a:off x="6583679" y="4919472"/>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16±4°</a:t>
            </a:r>
          </a:p>
        </p:txBody>
      </p:sp>
      <p:sp>
        <p:nvSpPr>
          <p:cNvPr id="58" name="TextBox 57"/>
          <p:cNvSpPr txBox="1"/>
          <p:nvPr/>
        </p:nvSpPr>
        <p:spPr>
          <a:xfrm>
            <a:off x="8229600" y="4919472"/>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10±3°</a:t>
            </a:r>
          </a:p>
        </p:txBody>
      </p:sp>
      <p:sp>
        <p:nvSpPr>
          <p:cNvPr id="59" name="TextBox 58"/>
          <p:cNvSpPr txBox="1"/>
          <p:nvPr/>
        </p:nvSpPr>
        <p:spPr>
          <a:xfrm>
            <a:off x="9875520" y="4919472"/>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20±9°</a:t>
            </a:r>
          </a:p>
        </p:txBody>
      </p:sp>
      <p:cxnSp>
        <p:nvCxnSpPr>
          <p:cNvPr id="60" name="Connector 59"/>
          <p:cNvCxnSpPr/>
          <p:nvPr/>
        </p:nvCxnSpPr>
        <p:spPr>
          <a:xfrm>
            <a:off x="640080" y="5230368"/>
            <a:ext cx="10881360"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0080" y="5303520"/>
            <a:ext cx="392277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Ours, device 3, K = 1, stable</a:t>
            </a:r>
          </a:p>
        </p:txBody>
      </p:sp>
      <p:sp>
        <p:nvSpPr>
          <p:cNvPr id="62" name="TextBox 61"/>
          <p:cNvSpPr txBox="1"/>
          <p:nvPr/>
        </p:nvSpPr>
        <p:spPr>
          <a:xfrm>
            <a:off x="4617720" y="5303520"/>
            <a:ext cx="191109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new, second look</a:t>
            </a:r>
          </a:p>
        </p:txBody>
      </p:sp>
      <p:sp>
        <p:nvSpPr>
          <p:cNvPr id="63" name="TextBox 62"/>
          <p:cNvSpPr txBox="1"/>
          <p:nvPr/>
        </p:nvSpPr>
        <p:spPr>
          <a:xfrm>
            <a:off x="6583679" y="5303520"/>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14°</a:t>
            </a:r>
          </a:p>
        </p:txBody>
      </p:sp>
      <p:sp>
        <p:nvSpPr>
          <p:cNvPr id="64" name="TextBox 63"/>
          <p:cNvSpPr txBox="1"/>
          <p:nvPr/>
        </p:nvSpPr>
        <p:spPr>
          <a:xfrm>
            <a:off x="8229600" y="5303520"/>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12±3°</a:t>
            </a:r>
          </a:p>
        </p:txBody>
      </p:sp>
      <p:sp>
        <p:nvSpPr>
          <p:cNvPr id="65" name="TextBox 64"/>
          <p:cNvSpPr txBox="1"/>
          <p:nvPr/>
        </p:nvSpPr>
        <p:spPr>
          <a:xfrm>
            <a:off x="9875520" y="5303520"/>
            <a:ext cx="15910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11±2°</a:t>
            </a:r>
          </a:p>
        </p:txBody>
      </p:sp>
      <p:cxnSp>
        <p:nvCxnSpPr>
          <p:cNvPr id="66" name="Connector 65"/>
          <p:cNvCxnSpPr/>
          <p:nvPr/>
        </p:nvCxnSpPr>
        <p:spPr>
          <a:xfrm>
            <a:off x="640080" y="3694176"/>
            <a:ext cx="10881360" cy="0"/>
          </a:xfrm>
          <a:prstGeom prst="line">
            <a:avLst/>
          </a:prstGeom>
          <a:ln w="19050">
            <a:solidFill>
              <a:srgbClr val="2563EB"/>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40080" y="5669280"/>
            <a:ext cx="10972800" cy="713232"/>
          </a:xfrm>
          <a:prstGeom prst="rect">
            <a:avLst/>
          </a:prstGeom>
          <a:noFill/>
        </p:spPr>
        <p:txBody>
          <a:bodyPr wrap="square" lIns="0" rIns="0" tIns="0" bIns="0" anchor="t">
            <a:spAutoFit/>
          </a:bodyPr>
          <a:lstStyle/>
          <a:p>
            <a:pPr algn="l">
              <a:lnSpc>
                <a:spcPct val="102000"/>
              </a:lnSpc>
              <a:spcAft>
                <a:spcPts val="100"/>
              </a:spcAft>
            </a:pPr>
            <a:r>
              <a:rPr sz="1300" b="0" i="0">
                <a:solidFill>
                  <a:srgbClr val="1C1917"/>
                </a:solidFill>
                <a:latin typeface="Helvetica Neue"/>
              </a:rPr>
              <a:t>On the matched site, under 100 m, we are level and slightly ahead on the frames they keep: 7–10° and 9–12° against 10° and 13°. Past 100 m their 14° still beats our stable-frame mean, 31–74°. The filter is not this cut. On the new site, a second look, they lead under 50 m and we lead from 50 m out — device 3 is 12±3° and 11±2° against their 24° and 54°, on 1,592 frames, 238 past 100 m.</a:t>
            </a:r>
          </a:p>
          <a:p>
            <a:pPr algn="l">
              <a:lnSpc>
                <a:spcPct val="102000"/>
              </a:lnSpc>
              <a:spcAft>
                <a:spcPts val="100"/>
              </a:spcAft>
            </a:pPr>
            <a:r>
              <a:rPr sz="1200" b="0" i="0">
                <a:solidFill>
                  <a:srgbClr val="78716C"/>
                </a:solidFill>
                <a:latin typeface="Helvetica Neue"/>
              </a:rPr>
              <a:t>Delay-and-sum reproduces their bars within a few degrees. Their rule calls 67.0% of no-drone frames detections; ours calls 68.6%.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640080" y="411480"/>
            <a:ext cx="9144000" cy="274320"/>
          </a:xfrm>
          <a:prstGeom prst="rect">
            <a:avLst/>
          </a:prstGeom>
          <a:noFill/>
        </p:spPr>
        <p:txBody>
          <a:bodyPr wrap="square" lIns="0" rIns="0" tIns="0" bIns="0" anchor="t">
            <a:spAutoFit/>
          </a:bodyPr>
          <a:lstStyle/>
          <a:p>
            <a:pPr algn="l">
              <a:lnSpc>
                <a:spcPct val="112000"/>
              </a:lnSpc>
              <a:spcAft>
                <a:spcPts val="600"/>
              </a:spcAft>
            </a:pPr>
            <a:r>
              <a:rPr sz="1100" b="1" i="0">
                <a:solidFill>
                  <a:srgbClr val="2563EB"/>
                </a:solidFill>
                <a:latin typeface="Helvetica Neue"/>
              </a:rPr>
              <a:t>06   ·   AGAINST OURSELVES</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lnSpc>
                <a:spcPct val="112000"/>
              </a:lnSpc>
              <a:spcAft>
                <a:spcPts val="600"/>
              </a:spcAft>
            </a:pPr>
            <a:r>
              <a:rPr sz="3000" b="1" i="0">
                <a:solidFill>
                  <a:srgbClr val="1C1917"/>
                </a:solidFill>
                <a:latin typeface="Helvetica Neue"/>
              </a:rPr>
              <a:t>Every drone frame, raw then filtered</a:t>
            </a:r>
          </a:p>
        </p:txBody>
      </p:sp>
      <p:sp>
        <p:nvSpPr>
          <p:cNvPr id="4" name="TextBox 3"/>
          <p:cNvSpPr txBox="1"/>
          <p:nvPr/>
        </p:nvSpPr>
        <p:spPr>
          <a:xfrm>
            <a:off x="640080" y="6419088"/>
            <a:ext cx="7315200" cy="228600"/>
          </a:xfrm>
          <a:prstGeom prst="rect">
            <a:avLst/>
          </a:prstGeom>
          <a:noFill/>
        </p:spPr>
        <p:txBody>
          <a:bodyPr wrap="square" lIns="0" rIns="0" tIns="0" bIns="0" anchor="t">
            <a:spAutoFit/>
          </a:bodyPr>
          <a:lstStyle/>
          <a:p>
            <a:pPr algn="l">
              <a:lnSpc>
                <a:spcPct val="112000"/>
              </a:lnSpc>
              <a:spcAft>
                <a:spcPts val="600"/>
              </a:spcAft>
            </a:pPr>
            <a:r>
              <a:rPr sz="900" b="0" i="0">
                <a:solidFill>
                  <a:srgbClr val="78716C"/>
                </a:solidFill>
                <a:latin typeface="Helvetica Neue"/>
              </a:rPr>
              <a:t>Hearing drones in 3D  ·  Livshits &amp; Masad</a:t>
            </a:r>
          </a:p>
        </p:txBody>
      </p:sp>
      <p:sp>
        <p:nvSpPr>
          <p:cNvPr id="5" name="TextBox 4"/>
          <p:cNvSpPr txBox="1"/>
          <p:nvPr/>
        </p:nvSpPr>
        <p:spPr>
          <a:xfrm>
            <a:off x="10634472" y="6419088"/>
            <a:ext cx="914400" cy="228600"/>
          </a:xfrm>
          <a:prstGeom prst="rect">
            <a:avLst/>
          </a:prstGeom>
          <a:noFill/>
        </p:spPr>
        <p:txBody>
          <a:bodyPr wrap="square" lIns="0" rIns="0" tIns="0" bIns="0" anchor="t">
            <a:spAutoFit/>
          </a:bodyPr>
          <a:lstStyle/>
          <a:p>
            <a:pPr algn="r">
              <a:lnSpc>
                <a:spcPct val="112000"/>
              </a:lnSpc>
              <a:spcAft>
                <a:spcPts val="600"/>
              </a:spcAft>
            </a:pPr>
            <a:r>
              <a:rPr sz="900" b="0" i="0">
                <a:solidFill>
                  <a:srgbClr val="78716C"/>
                </a:solidFill>
                <a:latin typeface="Helvetica Neue"/>
              </a:rPr>
              <a:t>7 / 8</a:t>
            </a:r>
          </a:p>
        </p:txBody>
      </p:sp>
      <p:sp>
        <p:nvSpPr>
          <p:cNvPr id="6" name="TextBox 5"/>
          <p:cNvSpPr txBox="1"/>
          <p:nvPr/>
        </p:nvSpPr>
        <p:spPr>
          <a:xfrm>
            <a:off x="640080" y="1353312"/>
            <a:ext cx="10972800" cy="384048"/>
          </a:xfrm>
          <a:prstGeom prst="rect">
            <a:avLst/>
          </a:prstGeom>
          <a:noFill/>
        </p:spPr>
        <p:txBody>
          <a:bodyPr wrap="square" lIns="0" rIns="0" tIns="0" bIns="0" anchor="t">
            <a:spAutoFit/>
          </a:bodyPr>
          <a:lstStyle/>
          <a:p>
            <a:pPr algn="l">
              <a:lnSpc>
                <a:spcPct val="102000"/>
              </a:lnSpc>
              <a:spcAft>
                <a:spcPts val="600"/>
              </a:spcAft>
            </a:pPr>
            <a:r>
              <a:rPr sz="1300" b="0" i="0">
                <a:solidFill>
                  <a:srgbClr val="44403C"/>
                </a:solidFill>
                <a:latin typeface="Helvetica Neue"/>
              </a:rPr>
              <a:t>Matched site. Not their bins and not their mean. Share of drone frames inside 10°, our 30 m bins. Each cell is raw, then filtered. ± is the seed spread, omitted under 2. Pooled spread here is ±1.2 points.</a:t>
            </a:r>
          </a:p>
        </p:txBody>
      </p:sp>
      <p:sp>
        <p:nvSpPr>
          <p:cNvPr id="7" name="TextBox 6"/>
          <p:cNvSpPr txBox="1"/>
          <p:nvPr/>
        </p:nvSpPr>
        <p:spPr>
          <a:xfrm>
            <a:off x="640080" y="1755648"/>
            <a:ext cx="2276856" cy="420624"/>
          </a:xfrm>
          <a:prstGeom prst="rect">
            <a:avLst/>
          </a:prstGeom>
          <a:noFill/>
        </p:spPr>
        <p:txBody>
          <a:bodyPr wrap="square" lIns="0" rIns="0" tIns="0" bIns="0" anchor="t">
            <a:spAutoFit/>
          </a:bodyPr>
          <a:lstStyle/>
          <a:p>
            <a:pPr algn="l">
              <a:lnSpc>
                <a:spcPct val="105000"/>
              </a:lnSpc>
              <a:spcAft>
                <a:spcPts val="0"/>
              </a:spcAft>
            </a:pPr>
            <a:r>
              <a:rPr sz="1100" b="1" i="0">
                <a:solidFill>
                  <a:srgbClr val="78716C"/>
                </a:solidFill>
                <a:latin typeface="Helvetica Neue"/>
              </a:rPr>
              <a:t>inside 10°</a:t>
            </a:r>
          </a:p>
          <a:p>
            <a:pPr algn="l">
              <a:lnSpc>
                <a:spcPct val="105000"/>
              </a:lnSpc>
              <a:spcAft>
                <a:spcPts val="0"/>
              </a:spcAft>
            </a:pPr>
            <a:r>
              <a:rPr sz="1100" b="1" i="0">
                <a:solidFill>
                  <a:srgbClr val="78716C"/>
                </a:solidFill>
                <a:latin typeface="Helvetica Neue"/>
              </a:rPr>
              <a:t>raw → filtered</a:t>
            </a:r>
          </a:p>
        </p:txBody>
      </p:sp>
      <p:sp>
        <p:nvSpPr>
          <p:cNvPr id="8" name="TextBox 7"/>
          <p:cNvSpPr txBox="1"/>
          <p:nvPr/>
        </p:nvSpPr>
        <p:spPr>
          <a:xfrm>
            <a:off x="2971800" y="1755648"/>
            <a:ext cx="1408176"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0–30 m</a:t>
            </a:r>
          </a:p>
        </p:txBody>
      </p:sp>
      <p:sp>
        <p:nvSpPr>
          <p:cNvPr id="9" name="TextBox 8"/>
          <p:cNvSpPr txBox="1"/>
          <p:nvPr/>
        </p:nvSpPr>
        <p:spPr>
          <a:xfrm>
            <a:off x="4434840" y="1755648"/>
            <a:ext cx="1408176"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30–60 m</a:t>
            </a:r>
          </a:p>
        </p:txBody>
      </p:sp>
      <p:sp>
        <p:nvSpPr>
          <p:cNvPr id="10" name="TextBox 9"/>
          <p:cNvSpPr txBox="1"/>
          <p:nvPr/>
        </p:nvSpPr>
        <p:spPr>
          <a:xfrm>
            <a:off x="5897879" y="1755648"/>
            <a:ext cx="1362456"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60–90 m</a:t>
            </a:r>
          </a:p>
        </p:txBody>
      </p:sp>
      <p:sp>
        <p:nvSpPr>
          <p:cNvPr id="11" name="TextBox 10"/>
          <p:cNvSpPr txBox="1"/>
          <p:nvPr/>
        </p:nvSpPr>
        <p:spPr>
          <a:xfrm>
            <a:off x="7315199" y="1755648"/>
            <a:ext cx="1499616"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90–120 m</a:t>
            </a:r>
          </a:p>
        </p:txBody>
      </p:sp>
      <p:sp>
        <p:nvSpPr>
          <p:cNvPr id="12" name="TextBox 11"/>
          <p:cNvSpPr txBox="1"/>
          <p:nvPr/>
        </p:nvSpPr>
        <p:spPr>
          <a:xfrm>
            <a:off x="8869680" y="1755648"/>
            <a:ext cx="1545336"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120–180 m</a:t>
            </a:r>
          </a:p>
        </p:txBody>
      </p:sp>
      <p:sp>
        <p:nvSpPr>
          <p:cNvPr id="13" name="TextBox 12"/>
          <p:cNvSpPr txBox="1"/>
          <p:nvPr/>
        </p:nvSpPr>
        <p:spPr>
          <a:xfrm>
            <a:off x="10469880" y="1755648"/>
            <a:ext cx="1042415" cy="420624"/>
          </a:xfrm>
          <a:prstGeom prst="rect">
            <a:avLst/>
          </a:prstGeom>
          <a:noFill/>
        </p:spPr>
        <p:txBody>
          <a:bodyPr wrap="square" lIns="0" rIns="0" tIns="0" bIns="0" anchor="t">
            <a:spAutoFit/>
          </a:bodyPr>
          <a:lstStyle/>
          <a:p>
            <a:pPr algn="ctr">
              <a:lnSpc>
                <a:spcPct val="105000"/>
              </a:lnSpc>
              <a:spcAft>
                <a:spcPts val="0"/>
              </a:spcAft>
            </a:pPr>
            <a:r>
              <a:rPr sz="1100" b="1" i="0">
                <a:solidFill>
                  <a:srgbClr val="78716C"/>
                </a:solidFill>
                <a:latin typeface="Helvetica Neue"/>
              </a:rPr>
              <a:t>all</a:t>
            </a:r>
          </a:p>
        </p:txBody>
      </p:sp>
      <p:cxnSp>
        <p:nvCxnSpPr>
          <p:cNvPr id="14" name="Connector 13"/>
          <p:cNvCxnSpPr/>
          <p:nvPr/>
        </p:nvCxnSpPr>
        <p:spPr>
          <a:xfrm>
            <a:off x="640080" y="2212848"/>
            <a:ext cx="10927079" cy="0"/>
          </a:xfrm>
          <a:prstGeom prst="line">
            <a:avLst/>
          </a:prstGeom>
          <a:ln w="9525">
            <a:solidFill>
              <a:srgbClr val="78716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2304288"/>
            <a:ext cx="227685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Delay-and-sum, 24</a:t>
            </a:r>
          </a:p>
        </p:txBody>
      </p:sp>
      <p:sp>
        <p:nvSpPr>
          <p:cNvPr id="16" name="TextBox 15"/>
          <p:cNvSpPr txBox="1"/>
          <p:nvPr/>
        </p:nvSpPr>
        <p:spPr>
          <a:xfrm>
            <a:off x="2971800" y="2304288"/>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50→52</a:t>
            </a:r>
          </a:p>
        </p:txBody>
      </p:sp>
      <p:sp>
        <p:nvSpPr>
          <p:cNvPr id="17" name="TextBox 16"/>
          <p:cNvSpPr txBox="1"/>
          <p:nvPr/>
        </p:nvSpPr>
        <p:spPr>
          <a:xfrm>
            <a:off x="4434840" y="2304288"/>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33→36</a:t>
            </a:r>
          </a:p>
        </p:txBody>
      </p:sp>
      <p:sp>
        <p:nvSpPr>
          <p:cNvPr id="18" name="TextBox 17"/>
          <p:cNvSpPr txBox="1"/>
          <p:nvPr/>
        </p:nvSpPr>
        <p:spPr>
          <a:xfrm>
            <a:off x="5897879" y="2304288"/>
            <a:ext cx="13624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18→21</a:t>
            </a:r>
          </a:p>
        </p:txBody>
      </p:sp>
      <p:sp>
        <p:nvSpPr>
          <p:cNvPr id="19" name="TextBox 18"/>
          <p:cNvSpPr txBox="1"/>
          <p:nvPr/>
        </p:nvSpPr>
        <p:spPr>
          <a:xfrm>
            <a:off x="7315199" y="2304288"/>
            <a:ext cx="149961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3→0</a:t>
            </a:r>
          </a:p>
        </p:txBody>
      </p:sp>
      <p:sp>
        <p:nvSpPr>
          <p:cNvPr id="20" name="TextBox 19"/>
          <p:cNvSpPr txBox="1"/>
          <p:nvPr/>
        </p:nvSpPr>
        <p:spPr>
          <a:xfrm>
            <a:off x="8869680" y="2304288"/>
            <a:ext cx="154533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2→0</a:t>
            </a:r>
          </a:p>
        </p:txBody>
      </p:sp>
      <p:sp>
        <p:nvSpPr>
          <p:cNvPr id="21" name="TextBox 20"/>
          <p:cNvSpPr txBox="1"/>
          <p:nvPr/>
        </p:nvSpPr>
        <p:spPr>
          <a:xfrm>
            <a:off x="10469880" y="2304288"/>
            <a:ext cx="104241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33→35</a:t>
            </a:r>
          </a:p>
        </p:txBody>
      </p:sp>
      <p:cxnSp>
        <p:nvCxnSpPr>
          <p:cNvPr id="22" name="Connector 21"/>
          <p:cNvCxnSpPr/>
          <p:nvPr/>
        </p:nvCxnSpPr>
        <p:spPr>
          <a:xfrm>
            <a:off x="640080" y="2615184"/>
            <a:ext cx="10927079"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2688336"/>
            <a:ext cx="227685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24 mics, K = 1</a:t>
            </a:r>
          </a:p>
        </p:txBody>
      </p:sp>
      <p:sp>
        <p:nvSpPr>
          <p:cNvPr id="24" name="TextBox 23"/>
          <p:cNvSpPr txBox="1"/>
          <p:nvPr/>
        </p:nvSpPr>
        <p:spPr>
          <a:xfrm>
            <a:off x="2971800" y="2688336"/>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66±5→66±5</a:t>
            </a:r>
          </a:p>
        </p:txBody>
      </p:sp>
      <p:sp>
        <p:nvSpPr>
          <p:cNvPr id="25" name="TextBox 24"/>
          <p:cNvSpPr txBox="1"/>
          <p:nvPr/>
        </p:nvSpPr>
        <p:spPr>
          <a:xfrm>
            <a:off x="4434840" y="2688336"/>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79→83±3</a:t>
            </a:r>
          </a:p>
        </p:txBody>
      </p:sp>
      <p:sp>
        <p:nvSpPr>
          <p:cNvPr id="26" name="TextBox 25"/>
          <p:cNvSpPr txBox="1"/>
          <p:nvPr/>
        </p:nvSpPr>
        <p:spPr>
          <a:xfrm>
            <a:off x="5897879" y="2688336"/>
            <a:ext cx="13624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73→82±6</a:t>
            </a:r>
          </a:p>
        </p:txBody>
      </p:sp>
      <p:sp>
        <p:nvSpPr>
          <p:cNvPr id="27" name="TextBox 26"/>
          <p:cNvSpPr txBox="1"/>
          <p:nvPr/>
        </p:nvSpPr>
        <p:spPr>
          <a:xfrm>
            <a:off x="7315199" y="2688336"/>
            <a:ext cx="149961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57±3→74±12</a:t>
            </a:r>
          </a:p>
        </p:txBody>
      </p:sp>
      <p:sp>
        <p:nvSpPr>
          <p:cNvPr id="28" name="TextBox 27"/>
          <p:cNvSpPr txBox="1"/>
          <p:nvPr/>
        </p:nvSpPr>
        <p:spPr>
          <a:xfrm>
            <a:off x="8869680" y="2688336"/>
            <a:ext cx="154533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27±11→55±13</a:t>
            </a:r>
          </a:p>
        </p:txBody>
      </p:sp>
      <p:sp>
        <p:nvSpPr>
          <p:cNvPr id="29" name="TextBox 28"/>
          <p:cNvSpPr txBox="1"/>
          <p:nvPr/>
        </p:nvSpPr>
        <p:spPr>
          <a:xfrm>
            <a:off x="10469880" y="2688336"/>
            <a:ext cx="104241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70±2→76</a:t>
            </a:r>
          </a:p>
        </p:txBody>
      </p:sp>
      <p:cxnSp>
        <p:nvCxnSpPr>
          <p:cNvPr id="30" name="Connector 29"/>
          <p:cNvCxnSpPr/>
          <p:nvPr/>
        </p:nvCxnSpPr>
        <p:spPr>
          <a:xfrm>
            <a:off x="640080" y="2999232"/>
            <a:ext cx="10927079"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3072384"/>
            <a:ext cx="227685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24 mics, K = 5</a:t>
            </a:r>
          </a:p>
        </p:txBody>
      </p:sp>
      <p:sp>
        <p:nvSpPr>
          <p:cNvPr id="32" name="TextBox 31"/>
          <p:cNvSpPr txBox="1"/>
          <p:nvPr/>
        </p:nvSpPr>
        <p:spPr>
          <a:xfrm>
            <a:off x="2971800" y="3072384"/>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63→62</a:t>
            </a:r>
          </a:p>
        </p:txBody>
      </p:sp>
      <p:sp>
        <p:nvSpPr>
          <p:cNvPr id="33" name="TextBox 32"/>
          <p:cNvSpPr txBox="1"/>
          <p:nvPr/>
        </p:nvSpPr>
        <p:spPr>
          <a:xfrm>
            <a:off x="4434840" y="3072384"/>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79±3→81±2</a:t>
            </a:r>
          </a:p>
        </p:txBody>
      </p:sp>
      <p:sp>
        <p:nvSpPr>
          <p:cNvPr id="34" name="TextBox 33"/>
          <p:cNvSpPr txBox="1"/>
          <p:nvPr/>
        </p:nvSpPr>
        <p:spPr>
          <a:xfrm>
            <a:off x="5897879" y="3072384"/>
            <a:ext cx="13624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75→77±3</a:t>
            </a:r>
          </a:p>
        </p:txBody>
      </p:sp>
      <p:sp>
        <p:nvSpPr>
          <p:cNvPr id="35" name="TextBox 34"/>
          <p:cNvSpPr txBox="1"/>
          <p:nvPr/>
        </p:nvSpPr>
        <p:spPr>
          <a:xfrm>
            <a:off x="7315199" y="3072384"/>
            <a:ext cx="149961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60±2→64±6</a:t>
            </a:r>
          </a:p>
        </p:txBody>
      </p:sp>
      <p:sp>
        <p:nvSpPr>
          <p:cNvPr id="36" name="TextBox 35"/>
          <p:cNvSpPr txBox="1"/>
          <p:nvPr/>
        </p:nvSpPr>
        <p:spPr>
          <a:xfrm>
            <a:off x="8869680" y="3072384"/>
            <a:ext cx="154533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27±6→34±12</a:t>
            </a:r>
          </a:p>
        </p:txBody>
      </p:sp>
      <p:sp>
        <p:nvSpPr>
          <p:cNvPr id="37" name="TextBox 36"/>
          <p:cNvSpPr txBox="1"/>
          <p:nvPr/>
        </p:nvSpPr>
        <p:spPr>
          <a:xfrm>
            <a:off x="10469880" y="3072384"/>
            <a:ext cx="104241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70→72</a:t>
            </a:r>
          </a:p>
        </p:txBody>
      </p:sp>
      <p:cxnSp>
        <p:nvCxnSpPr>
          <p:cNvPr id="38" name="Connector 37"/>
          <p:cNvCxnSpPr/>
          <p:nvPr/>
        </p:nvCxnSpPr>
        <p:spPr>
          <a:xfrm>
            <a:off x="640080" y="3383279"/>
            <a:ext cx="10927079"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40080" y="3456432"/>
            <a:ext cx="227685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Device 3, K = 1</a:t>
            </a:r>
          </a:p>
        </p:txBody>
      </p:sp>
      <p:sp>
        <p:nvSpPr>
          <p:cNvPr id="40" name="TextBox 39"/>
          <p:cNvSpPr txBox="1"/>
          <p:nvPr/>
        </p:nvSpPr>
        <p:spPr>
          <a:xfrm>
            <a:off x="2971800" y="3456432"/>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69±3→70±2</a:t>
            </a:r>
          </a:p>
        </p:txBody>
      </p:sp>
      <p:sp>
        <p:nvSpPr>
          <p:cNvPr id="41" name="TextBox 40"/>
          <p:cNvSpPr txBox="1"/>
          <p:nvPr/>
        </p:nvSpPr>
        <p:spPr>
          <a:xfrm>
            <a:off x="4434840" y="3456432"/>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75→81±2</a:t>
            </a:r>
          </a:p>
        </p:txBody>
      </p:sp>
      <p:sp>
        <p:nvSpPr>
          <p:cNvPr id="42" name="TextBox 41"/>
          <p:cNvSpPr txBox="1"/>
          <p:nvPr/>
        </p:nvSpPr>
        <p:spPr>
          <a:xfrm>
            <a:off x="5897879" y="3456432"/>
            <a:ext cx="13624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68→77</a:t>
            </a:r>
          </a:p>
        </p:txBody>
      </p:sp>
      <p:sp>
        <p:nvSpPr>
          <p:cNvPr id="43" name="TextBox 42"/>
          <p:cNvSpPr txBox="1"/>
          <p:nvPr/>
        </p:nvSpPr>
        <p:spPr>
          <a:xfrm>
            <a:off x="7315199" y="3456432"/>
            <a:ext cx="149961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56→64±20</a:t>
            </a:r>
          </a:p>
        </p:txBody>
      </p:sp>
      <p:sp>
        <p:nvSpPr>
          <p:cNvPr id="44" name="TextBox 43"/>
          <p:cNvSpPr txBox="1"/>
          <p:nvPr/>
        </p:nvSpPr>
        <p:spPr>
          <a:xfrm>
            <a:off x="8869680" y="3456432"/>
            <a:ext cx="154533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25±4→65±11</a:t>
            </a:r>
          </a:p>
        </p:txBody>
      </p:sp>
      <p:sp>
        <p:nvSpPr>
          <p:cNvPr id="45" name="TextBox 44"/>
          <p:cNvSpPr txBox="1"/>
          <p:nvPr/>
        </p:nvSpPr>
        <p:spPr>
          <a:xfrm>
            <a:off x="10469880" y="3456432"/>
            <a:ext cx="104241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69→75±2</a:t>
            </a:r>
          </a:p>
        </p:txBody>
      </p:sp>
      <p:cxnSp>
        <p:nvCxnSpPr>
          <p:cNvPr id="46" name="Connector 45"/>
          <p:cNvCxnSpPr/>
          <p:nvPr/>
        </p:nvCxnSpPr>
        <p:spPr>
          <a:xfrm>
            <a:off x="640080" y="3767328"/>
            <a:ext cx="10927079" cy="0"/>
          </a:xfrm>
          <a:prstGeom prst="line">
            <a:avLst/>
          </a:prstGeom>
          <a:ln w="6350">
            <a:solidFill>
              <a:srgbClr val="E7E5E4"/>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0080" y="3840480"/>
            <a:ext cx="2276856" cy="310896"/>
          </a:xfrm>
          <a:prstGeom prst="rect">
            <a:avLst/>
          </a:prstGeom>
          <a:noFill/>
        </p:spPr>
        <p:txBody>
          <a:bodyPr wrap="square" lIns="0" rIns="0" tIns="0" bIns="0" anchor="t">
            <a:spAutoFit/>
          </a:bodyPr>
          <a:lstStyle/>
          <a:p>
            <a:pPr algn="l">
              <a:lnSpc>
                <a:spcPct val="112000"/>
              </a:lnSpc>
              <a:spcAft>
                <a:spcPts val="600"/>
              </a:spcAft>
            </a:pPr>
            <a:r>
              <a:rPr sz="1200" b="1" i="0">
                <a:solidFill>
                  <a:srgbClr val="1C1917"/>
                </a:solidFill>
                <a:latin typeface="Helvetica Neue"/>
              </a:rPr>
              <a:t>Device 3, K = 9</a:t>
            </a:r>
          </a:p>
        </p:txBody>
      </p:sp>
      <p:sp>
        <p:nvSpPr>
          <p:cNvPr id="48" name="TextBox 47"/>
          <p:cNvSpPr txBox="1"/>
          <p:nvPr/>
        </p:nvSpPr>
        <p:spPr>
          <a:xfrm>
            <a:off x="2971800" y="3840480"/>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72±2→72±2</a:t>
            </a:r>
          </a:p>
        </p:txBody>
      </p:sp>
      <p:sp>
        <p:nvSpPr>
          <p:cNvPr id="49" name="TextBox 48"/>
          <p:cNvSpPr txBox="1"/>
          <p:nvPr/>
        </p:nvSpPr>
        <p:spPr>
          <a:xfrm>
            <a:off x="4434840" y="3840480"/>
            <a:ext cx="140817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78±3→78±4</a:t>
            </a:r>
          </a:p>
        </p:txBody>
      </p:sp>
      <p:sp>
        <p:nvSpPr>
          <p:cNvPr id="50" name="TextBox 49"/>
          <p:cNvSpPr txBox="1"/>
          <p:nvPr/>
        </p:nvSpPr>
        <p:spPr>
          <a:xfrm>
            <a:off x="5897879" y="3840480"/>
            <a:ext cx="136245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73±3→74±4</a:t>
            </a:r>
          </a:p>
        </p:txBody>
      </p:sp>
      <p:sp>
        <p:nvSpPr>
          <p:cNvPr id="51" name="TextBox 50"/>
          <p:cNvSpPr txBox="1"/>
          <p:nvPr/>
        </p:nvSpPr>
        <p:spPr>
          <a:xfrm>
            <a:off x="7315199" y="3840480"/>
            <a:ext cx="149961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71±12→74±12</a:t>
            </a:r>
          </a:p>
        </p:txBody>
      </p:sp>
      <p:sp>
        <p:nvSpPr>
          <p:cNvPr id="52" name="TextBox 51"/>
          <p:cNvSpPr txBox="1"/>
          <p:nvPr/>
        </p:nvSpPr>
        <p:spPr>
          <a:xfrm>
            <a:off x="8869680" y="3840480"/>
            <a:ext cx="1545336"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24±6→22±4</a:t>
            </a:r>
          </a:p>
        </p:txBody>
      </p:sp>
      <p:sp>
        <p:nvSpPr>
          <p:cNvPr id="53" name="TextBox 52"/>
          <p:cNvSpPr txBox="1"/>
          <p:nvPr/>
        </p:nvSpPr>
        <p:spPr>
          <a:xfrm>
            <a:off x="10469880" y="3840480"/>
            <a:ext cx="1042415" cy="310896"/>
          </a:xfrm>
          <a:prstGeom prst="rect">
            <a:avLst/>
          </a:prstGeom>
          <a:noFill/>
        </p:spPr>
        <p:txBody>
          <a:bodyPr wrap="square" lIns="0" rIns="0" tIns="0" bIns="0" anchor="t">
            <a:spAutoFit/>
          </a:bodyPr>
          <a:lstStyle/>
          <a:p>
            <a:pPr algn="ctr">
              <a:lnSpc>
                <a:spcPct val="112000"/>
              </a:lnSpc>
              <a:spcAft>
                <a:spcPts val="600"/>
              </a:spcAft>
            </a:pPr>
            <a:r>
              <a:rPr sz="1200" b="0" i="0">
                <a:solidFill>
                  <a:srgbClr val="1C1917"/>
                </a:solidFill>
                <a:latin typeface="Helvetica Neue"/>
              </a:rPr>
              <a:t>73→73±2</a:t>
            </a:r>
          </a:p>
        </p:txBody>
      </p:sp>
      <p:sp>
        <p:nvSpPr>
          <p:cNvPr id="54" name="Rounded Rectangle 53"/>
          <p:cNvSpPr/>
          <p:nvPr/>
        </p:nvSpPr>
        <p:spPr>
          <a:xfrm>
            <a:off x="640080" y="4315968"/>
            <a:ext cx="10927080" cy="640080"/>
          </a:xfrm>
          <a:prstGeom prst="roundRect">
            <a:avLst>
              <a:gd name="adj" fmla="val 6000"/>
            </a:avLst>
          </a:prstGeom>
          <a:solidFill>
            <a:srgbClr val="FFFFFF"/>
          </a:solidFill>
          <a:ln w="952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1248" y="4389120"/>
            <a:ext cx="10561320" cy="493776"/>
          </a:xfrm>
          <a:prstGeom prst="rect">
            <a:avLst/>
          </a:prstGeom>
          <a:noFill/>
        </p:spPr>
        <p:txBody>
          <a:bodyPr wrap="square" lIns="0" rIns="0" tIns="0" bIns="0" anchor="t">
            <a:spAutoFit/>
          </a:bodyPr>
          <a:lstStyle/>
          <a:p>
            <a:pPr algn="l">
              <a:lnSpc>
                <a:spcPct val="105000"/>
              </a:lnSpc>
              <a:spcAft>
                <a:spcPts val="600"/>
              </a:spcAft>
            </a:pPr>
            <a:r>
              <a:rPr sz="1300" b="0" i="0">
                <a:solidFill>
                  <a:srgbClr val="1C1917"/>
                </a:solidFill>
                <a:latin typeface="Helvetica Neue"/>
              </a:rPr>
              <a:t>Not a comparison with the paper. Delay-and-sum, matched site, our reading of the sideways miss, range × sin(angle): about 3 m under 30 m, and about 64 m in the far bin. That far-bin entry is the bin’s 32° mean. A 10° error is about 5 m at 30 m and 17 m at 100 m.</a:t>
            </a:r>
          </a:p>
        </p:txBody>
      </p:sp>
      <p:sp>
        <p:nvSpPr>
          <p:cNvPr id="56" name="TextBox 55"/>
          <p:cNvSpPr txBox="1"/>
          <p:nvPr/>
        </p:nvSpPr>
        <p:spPr>
          <a:xfrm>
            <a:off x="640080" y="5047488"/>
            <a:ext cx="10972800" cy="1298448"/>
          </a:xfrm>
          <a:prstGeom prst="rect">
            <a:avLst/>
          </a:prstGeom>
          <a:noFill/>
        </p:spPr>
        <p:txBody>
          <a:bodyPr wrap="square" lIns="0" rIns="0" tIns="0" bIns="0" anchor="t">
            <a:spAutoFit/>
          </a:bodyPr>
          <a:lstStyle/>
          <a:p>
            <a:pPr algn="l">
              <a:lnSpc>
                <a:spcPct val="105000"/>
              </a:lnSpc>
              <a:spcAft>
                <a:spcPts val="400"/>
              </a:spcAft>
            </a:pPr>
            <a:r>
              <a:rPr sz="1300" b="1" i="0">
                <a:solidFill>
                  <a:srgbClr val="1C1917"/>
                </a:solidFill>
                <a:latin typeface="Helvetica Neue"/>
              </a:rPr>
              <a:t>Six microphones match twenty-four. </a:t>
            </a:r>
            <a:r>
              <a:rPr sz="1300" b="0" i="0">
                <a:solidFill>
                  <a:srgbClr val="44403C"/>
                </a:solidFill>
                <a:latin typeface="Helvetica Neue"/>
              </a:rPr>
              <a:t>At one frame, 69.3% ± 0.7 against 70.5% ± 1.5, inside seed noise, and at five frames still inside it. At nine frames, 0.9 s, device 3 reaches 73.2% ± 1.4 and all 24 stays at 70.1% ± 2.7. Depth pays only on the small array. The searched six, out of 106,183, score 52.1% ± 0.8.</a:t>
            </a:r>
          </a:p>
          <a:p>
            <a:pPr algn="l">
              <a:lnSpc>
                <a:spcPct val="105000"/>
              </a:lnSpc>
              <a:spcAft>
                <a:spcPts val="400"/>
              </a:spcAft>
            </a:pPr>
            <a:r>
              <a:rPr sz="1300" b="1" i="0">
                <a:solidFill>
                  <a:srgbClr val="1C1917"/>
                </a:solidFill>
                <a:latin typeface="Helvetica Neue"/>
              </a:rPr>
              <a:t>The filter, on this reading. </a:t>
            </a:r>
            <a:r>
              <a:rPr sz="1300" b="0" i="0">
                <a:solidFill>
                  <a:srgbClr val="44403C"/>
                </a:solidFill>
                <a:latin typeface="Helvetica Neue"/>
              </a:rPr>
              <a:t>One frame takes 24 microphones from 70% to 76% and device 3 from 69% to 75%. The gain is in the far bins; inside 30 m the cells do not move. Once five or nine frames are stacked it adds about a point, and device 3 at K = 9 stays at 73%. New site, a second look: 52% to 61% and 54% to 61%; device 3 at K = 9 stays at 52%. Where the raw track is stably wrong, the filter holds the error.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9"/>
        </a:solidFill>
        <a:effectLst/>
      </p:bgPr>
    </p:bg>
    <p:spTree>
      <p:nvGrpSpPr>
        <p:cNvPr id="1" name=""/>
        <p:cNvGrpSpPr/>
        <p:nvPr/>
      </p:nvGrpSpPr>
      <p:grpSpPr/>
      <p:sp>
        <p:nvSpPr>
          <p:cNvPr id="2" name="TextBox 1"/>
          <p:cNvSpPr txBox="1"/>
          <p:nvPr/>
        </p:nvSpPr>
        <p:spPr>
          <a:xfrm>
            <a:off x="640080" y="411480"/>
            <a:ext cx="9144000" cy="274320"/>
          </a:xfrm>
          <a:prstGeom prst="rect">
            <a:avLst/>
          </a:prstGeom>
          <a:noFill/>
        </p:spPr>
        <p:txBody>
          <a:bodyPr wrap="square" lIns="0" rIns="0" tIns="0" bIns="0" anchor="t">
            <a:spAutoFit/>
          </a:bodyPr>
          <a:lstStyle/>
          <a:p>
            <a:pPr algn="l">
              <a:lnSpc>
                <a:spcPct val="112000"/>
              </a:lnSpc>
              <a:spcAft>
                <a:spcPts val="600"/>
              </a:spcAft>
            </a:pPr>
            <a:r>
              <a:rPr sz="1100" b="1" i="0">
                <a:solidFill>
                  <a:srgbClr val="2563EB"/>
                </a:solidFill>
                <a:latin typeface="Helvetica Neue"/>
              </a:rPr>
              <a:t>07   ·   LIMITS</a:t>
            </a:r>
          </a:p>
        </p:txBody>
      </p:sp>
      <p:sp>
        <p:nvSpPr>
          <p:cNvPr id="3" name="TextBox 2"/>
          <p:cNvSpPr txBox="1"/>
          <p:nvPr/>
        </p:nvSpPr>
        <p:spPr>
          <a:xfrm>
            <a:off x="640080" y="658368"/>
            <a:ext cx="10881360" cy="731520"/>
          </a:xfrm>
          <a:prstGeom prst="rect">
            <a:avLst/>
          </a:prstGeom>
          <a:noFill/>
        </p:spPr>
        <p:txBody>
          <a:bodyPr wrap="square" lIns="0" rIns="0" tIns="0" bIns="0" anchor="t">
            <a:spAutoFit/>
          </a:bodyPr>
          <a:lstStyle/>
          <a:p>
            <a:pPr algn="l">
              <a:lnSpc>
                <a:spcPct val="112000"/>
              </a:lnSpc>
              <a:spcAft>
                <a:spcPts val="600"/>
              </a:spcAft>
            </a:pPr>
            <a:r>
              <a:rPr sz="3000" b="1" i="0">
                <a:solidFill>
                  <a:srgbClr val="1C1917"/>
                </a:solidFill>
                <a:latin typeface="Helvetica Neue"/>
              </a:rPr>
              <a:t>What these numbers cannot support</a:t>
            </a:r>
          </a:p>
        </p:txBody>
      </p:sp>
      <p:sp>
        <p:nvSpPr>
          <p:cNvPr id="4" name="TextBox 3"/>
          <p:cNvSpPr txBox="1"/>
          <p:nvPr/>
        </p:nvSpPr>
        <p:spPr>
          <a:xfrm>
            <a:off x="640080" y="6419088"/>
            <a:ext cx="7315200" cy="228600"/>
          </a:xfrm>
          <a:prstGeom prst="rect">
            <a:avLst/>
          </a:prstGeom>
          <a:noFill/>
        </p:spPr>
        <p:txBody>
          <a:bodyPr wrap="square" lIns="0" rIns="0" tIns="0" bIns="0" anchor="t">
            <a:spAutoFit/>
          </a:bodyPr>
          <a:lstStyle/>
          <a:p>
            <a:pPr algn="l">
              <a:lnSpc>
                <a:spcPct val="112000"/>
              </a:lnSpc>
              <a:spcAft>
                <a:spcPts val="600"/>
              </a:spcAft>
            </a:pPr>
            <a:r>
              <a:rPr sz="900" b="0" i="0">
                <a:solidFill>
                  <a:srgbClr val="78716C"/>
                </a:solidFill>
                <a:latin typeface="Helvetica Neue"/>
              </a:rPr>
              <a:t>Hearing drones in 3D  ·  Livshits &amp; Masad</a:t>
            </a:r>
          </a:p>
        </p:txBody>
      </p:sp>
      <p:sp>
        <p:nvSpPr>
          <p:cNvPr id="5" name="TextBox 4"/>
          <p:cNvSpPr txBox="1"/>
          <p:nvPr/>
        </p:nvSpPr>
        <p:spPr>
          <a:xfrm>
            <a:off x="10634472" y="6419088"/>
            <a:ext cx="914400" cy="228600"/>
          </a:xfrm>
          <a:prstGeom prst="rect">
            <a:avLst/>
          </a:prstGeom>
          <a:noFill/>
        </p:spPr>
        <p:txBody>
          <a:bodyPr wrap="square" lIns="0" rIns="0" tIns="0" bIns="0" anchor="t">
            <a:spAutoFit/>
          </a:bodyPr>
          <a:lstStyle/>
          <a:p>
            <a:pPr algn="r">
              <a:lnSpc>
                <a:spcPct val="112000"/>
              </a:lnSpc>
              <a:spcAft>
                <a:spcPts val="600"/>
              </a:spcAft>
            </a:pPr>
            <a:r>
              <a:rPr sz="900" b="0" i="0">
                <a:solidFill>
                  <a:srgbClr val="78716C"/>
                </a:solidFill>
                <a:latin typeface="Helvetica Neue"/>
              </a:rPr>
              <a:t>8 / 8</a:t>
            </a:r>
          </a:p>
        </p:txBody>
      </p:sp>
      <p:sp>
        <p:nvSpPr>
          <p:cNvPr id="6" name="Rounded Rectangle 5"/>
          <p:cNvSpPr/>
          <p:nvPr/>
        </p:nvSpPr>
        <p:spPr>
          <a:xfrm>
            <a:off x="640080" y="1444752"/>
            <a:ext cx="3639312" cy="2212848"/>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572768"/>
            <a:ext cx="3273552" cy="457200"/>
          </a:xfrm>
          <a:prstGeom prst="rect">
            <a:avLst/>
          </a:prstGeom>
          <a:noFill/>
        </p:spPr>
        <p:txBody>
          <a:bodyPr wrap="square" lIns="0" rIns="0" tIns="0" bIns="0" anchor="t">
            <a:spAutoFit/>
          </a:bodyPr>
          <a:lstStyle/>
          <a:p>
            <a:pPr algn="l">
              <a:lnSpc>
                <a:spcPct val="112000"/>
              </a:lnSpc>
              <a:spcAft>
                <a:spcPts val="600"/>
              </a:spcAft>
            </a:pPr>
            <a:r>
              <a:rPr sz="1500" b="1" i="0">
                <a:solidFill>
                  <a:srgbClr val="1C1917"/>
                </a:solidFill>
                <a:latin typeface="Helvetica Neue"/>
              </a:rPr>
              <a:t>Past about 90 m</a:t>
            </a:r>
          </a:p>
        </p:txBody>
      </p:sp>
      <p:sp>
        <p:nvSpPr>
          <p:cNvPr id="8" name="TextBox 7"/>
          <p:cNvSpPr txBox="1"/>
          <p:nvPr/>
        </p:nvSpPr>
        <p:spPr>
          <a:xfrm>
            <a:off x="822959" y="2066543"/>
            <a:ext cx="3273552" cy="1444752"/>
          </a:xfrm>
          <a:prstGeom prst="rect">
            <a:avLst/>
          </a:prstGeom>
          <a:noFill/>
        </p:spPr>
        <p:txBody>
          <a:bodyPr wrap="square" lIns="0" rIns="0" tIns="0" bIns="0" anchor="t">
            <a:spAutoFit/>
          </a:bodyPr>
          <a:lstStyle/>
          <a:p>
            <a:pPr algn="l">
              <a:lnSpc>
                <a:spcPct val="105000"/>
              </a:lnSpc>
              <a:spcAft>
                <a:spcPts val="600"/>
              </a:spcAft>
            </a:pPr>
            <a:r>
              <a:rPr sz="1300" b="0" i="0">
                <a:solidFill>
                  <a:srgbClr val="44403C"/>
                </a:solidFill>
                <a:latin typeface="Helvetica Neue"/>
              </a:rPr>
              <a:t>The labelled drone is often quieter than ambient in the beamformed map, and two thirds of labelled positives there are quieter than typical ambient. Early stopping on a pooled hit rate never selected for that bin. On the matched site, their stable-frame 14° remains ahead of us there.</a:t>
            </a:r>
          </a:p>
        </p:txBody>
      </p:sp>
      <p:sp>
        <p:nvSpPr>
          <p:cNvPr id="9" name="Rounded Rectangle 8"/>
          <p:cNvSpPr/>
          <p:nvPr/>
        </p:nvSpPr>
        <p:spPr>
          <a:xfrm>
            <a:off x="4434840" y="1444752"/>
            <a:ext cx="3639312" cy="2212848"/>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572768"/>
            <a:ext cx="3273552" cy="457200"/>
          </a:xfrm>
          <a:prstGeom prst="rect">
            <a:avLst/>
          </a:prstGeom>
          <a:noFill/>
        </p:spPr>
        <p:txBody>
          <a:bodyPr wrap="square" lIns="0" rIns="0" tIns="0" bIns="0" anchor="t">
            <a:spAutoFit/>
          </a:bodyPr>
          <a:lstStyle/>
          <a:p>
            <a:pPr algn="l">
              <a:lnSpc>
                <a:spcPct val="112000"/>
              </a:lnSpc>
              <a:spcAft>
                <a:spcPts val="600"/>
              </a:spcAft>
            </a:pPr>
            <a:r>
              <a:rPr sz="1500" b="1" i="0">
                <a:solidFill>
                  <a:srgbClr val="1C1917"/>
                </a:solidFill>
                <a:latin typeface="Helvetica Neue"/>
              </a:rPr>
              <a:t>Inside 30 m</a:t>
            </a:r>
          </a:p>
        </p:txBody>
      </p:sp>
      <p:sp>
        <p:nvSpPr>
          <p:cNvPr id="11" name="TextBox 10"/>
          <p:cNvSpPr txBox="1"/>
          <p:nvPr/>
        </p:nvSpPr>
        <p:spPr>
          <a:xfrm>
            <a:off x="4617720" y="2066543"/>
            <a:ext cx="3273552" cy="1444752"/>
          </a:xfrm>
          <a:prstGeom prst="rect">
            <a:avLst/>
          </a:prstGeom>
          <a:noFill/>
        </p:spPr>
        <p:txBody>
          <a:bodyPr wrap="square" lIns="0" rIns="0" tIns="0" bIns="0" anchor="t">
            <a:spAutoFit/>
          </a:bodyPr>
          <a:lstStyle/>
          <a:p>
            <a:pPr algn="l">
              <a:lnSpc>
                <a:spcPct val="105000"/>
              </a:lnSpc>
              <a:spcAft>
                <a:spcPts val="600"/>
              </a:spcAft>
            </a:pPr>
            <a:r>
              <a:rPr sz="1300" b="0" i="0">
                <a:solidFill>
                  <a:srgbClr val="44403C"/>
                </a:solidFill>
                <a:latin typeface="Helvetica Neue"/>
              </a:rPr>
              <a:t>The learned cells sit below the next bin, and the filter leaves them there. On the new site, a second look, the closest 30 m stay near 30% inside 10°. A source metres from a 2 m array is not a plane wave. Untested.</a:t>
            </a:r>
          </a:p>
        </p:txBody>
      </p:sp>
      <p:sp>
        <p:nvSpPr>
          <p:cNvPr id="12" name="Rounded Rectangle 11"/>
          <p:cNvSpPr/>
          <p:nvPr/>
        </p:nvSpPr>
        <p:spPr>
          <a:xfrm>
            <a:off x="8229600" y="1444752"/>
            <a:ext cx="3639312" cy="2212848"/>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1572768"/>
            <a:ext cx="3273552" cy="457200"/>
          </a:xfrm>
          <a:prstGeom prst="rect">
            <a:avLst/>
          </a:prstGeom>
          <a:noFill/>
        </p:spPr>
        <p:txBody>
          <a:bodyPr wrap="square" lIns="0" rIns="0" tIns="0" bIns="0" anchor="t">
            <a:spAutoFit/>
          </a:bodyPr>
          <a:lstStyle/>
          <a:p>
            <a:pPr algn="l">
              <a:lnSpc>
                <a:spcPct val="112000"/>
              </a:lnSpc>
              <a:spcAft>
                <a:spcPts val="600"/>
              </a:spcAft>
            </a:pPr>
            <a:r>
              <a:rPr sz="1500" b="1" i="0">
                <a:solidFill>
                  <a:srgbClr val="1C1917"/>
                </a:solidFill>
                <a:latin typeface="Helvetica Neue"/>
              </a:rPr>
              <a:t>Set aside</a:t>
            </a:r>
          </a:p>
        </p:txBody>
      </p:sp>
      <p:sp>
        <p:nvSpPr>
          <p:cNvPr id="14" name="TextBox 13"/>
          <p:cNvSpPr txBox="1"/>
          <p:nvPr/>
        </p:nvSpPr>
        <p:spPr>
          <a:xfrm>
            <a:off x="8412480" y="2066543"/>
            <a:ext cx="3273552" cy="1444752"/>
          </a:xfrm>
          <a:prstGeom prst="rect">
            <a:avLst/>
          </a:prstGeom>
          <a:noFill/>
        </p:spPr>
        <p:txBody>
          <a:bodyPr wrap="square" lIns="0" rIns="0" tIns="0" bIns="0" anchor="t">
            <a:spAutoFit/>
          </a:bodyPr>
          <a:lstStyle/>
          <a:p>
            <a:pPr algn="l">
              <a:lnSpc>
                <a:spcPct val="105000"/>
              </a:lnSpc>
              <a:spcAft>
                <a:spcPts val="600"/>
              </a:spcAft>
            </a:pPr>
            <a:r>
              <a:rPr sz="1300" b="0" i="0">
                <a:solidFill>
                  <a:srgbClr val="44403C"/>
                </a:solidFill>
                <a:latin typeface="Helvetica Neue"/>
              </a:rPr>
              <a:t>Polar discs, Tversky loss, and the rest of the array list were measured. None changes the claim above. Sub-band count moves the hit rate by about half a point.</a:t>
            </a:r>
          </a:p>
        </p:txBody>
      </p:sp>
      <p:sp>
        <p:nvSpPr>
          <p:cNvPr id="15" name="Rounded Rectangle 14"/>
          <p:cNvSpPr/>
          <p:nvPr/>
        </p:nvSpPr>
        <p:spPr>
          <a:xfrm>
            <a:off x="640080" y="3803904"/>
            <a:ext cx="5577840" cy="2395728"/>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931920"/>
            <a:ext cx="5138928" cy="329184"/>
          </a:xfrm>
          <a:prstGeom prst="rect">
            <a:avLst/>
          </a:prstGeom>
          <a:noFill/>
        </p:spPr>
        <p:txBody>
          <a:bodyPr wrap="square" lIns="0" rIns="0" tIns="0" bIns="0" anchor="t">
            <a:spAutoFit/>
          </a:bodyPr>
          <a:lstStyle/>
          <a:p>
            <a:pPr algn="l">
              <a:lnSpc>
                <a:spcPct val="112000"/>
              </a:lnSpc>
              <a:spcAft>
                <a:spcPts val="600"/>
              </a:spcAft>
            </a:pPr>
            <a:r>
              <a:rPr sz="1500" b="1" i="0">
                <a:solidFill>
                  <a:srgbClr val="1C1917"/>
                </a:solidFill>
                <a:latin typeface="Helvetica Neue"/>
              </a:rPr>
              <a:t>Detection fails across scenes</a:t>
            </a:r>
          </a:p>
        </p:txBody>
      </p:sp>
      <p:sp>
        <p:nvSpPr>
          <p:cNvPr id="17" name="TextBox 16"/>
          <p:cNvSpPr txBox="1"/>
          <p:nvPr/>
        </p:nvSpPr>
        <p:spPr>
          <a:xfrm>
            <a:off x="859536" y="4334256"/>
            <a:ext cx="5138928" cy="1691640"/>
          </a:xfrm>
          <a:prstGeom prst="rect">
            <a:avLst/>
          </a:prstGeom>
          <a:noFill/>
        </p:spPr>
        <p:txBody>
          <a:bodyPr wrap="square" lIns="0" rIns="0" tIns="0" bIns="0" anchor="t">
            <a:spAutoFit/>
          </a:bodyPr>
          <a:lstStyle/>
          <a:p>
            <a:pPr algn="l">
              <a:lnSpc>
                <a:spcPct val="105000"/>
              </a:lnSpc>
              <a:spcAft>
                <a:spcPts val="600"/>
              </a:spcAft>
            </a:pPr>
            <a:r>
              <a:rPr sz="1400" b="0" i="0">
                <a:solidFill>
                  <a:srgbClr val="44403C"/>
                </a:solidFill>
                <a:latin typeface="Helvetica Neue"/>
              </a:rPr>
              <a:t>Held out one scene at a time, the per-channel detector scores 0.488 ± 0.056 AUROC. The 0.662 was two halves of one afternoon. On the sealed new site the presence score reads 0.639 AUROC. Training negatives grew from 4.8 to 8.2 minutes and from one scene to three. That is still not enough to learn a detector.</a:t>
            </a:r>
          </a:p>
        </p:txBody>
      </p:sp>
      <p:sp>
        <p:nvSpPr>
          <p:cNvPr id="18" name="Rounded Rectangle 17"/>
          <p:cNvSpPr/>
          <p:nvPr/>
        </p:nvSpPr>
        <p:spPr>
          <a:xfrm>
            <a:off x="6400800" y="3803904"/>
            <a:ext cx="5577840" cy="2395728"/>
          </a:xfrm>
          <a:prstGeom prst="roundRect">
            <a:avLst>
              <a:gd name="adj" fmla="val 6000"/>
            </a:avLst>
          </a:prstGeom>
          <a:solidFill>
            <a:srgbClr val="FFFFFF"/>
          </a:solidFill>
          <a:ln w="9525">
            <a:solidFill>
              <a:srgbClr val="E7E5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0256" y="3931920"/>
            <a:ext cx="5138928" cy="329184"/>
          </a:xfrm>
          <a:prstGeom prst="rect">
            <a:avLst/>
          </a:prstGeom>
          <a:noFill/>
        </p:spPr>
        <p:txBody>
          <a:bodyPr wrap="square" lIns="0" rIns="0" tIns="0" bIns="0" anchor="t">
            <a:spAutoFit/>
          </a:bodyPr>
          <a:lstStyle/>
          <a:p>
            <a:pPr algn="l">
              <a:lnSpc>
                <a:spcPct val="112000"/>
              </a:lnSpc>
              <a:spcAft>
                <a:spcPts val="600"/>
              </a:spcAft>
            </a:pPr>
            <a:r>
              <a:rPr sz="1500" b="1" i="0">
                <a:solidFill>
                  <a:srgbClr val="1C1917"/>
                </a:solidFill>
                <a:latin typeface="Helvetica Neue"/>
              </a:rPr>
              <a:t>One drone, one dataset, two sites</a:t>
            </a:r>
          </a:p>
        </p:txBody>
      </p:sp>
      <p:sp>
        <p:nvSpPr>
          <p:cNvPr id="20" name="TextBox 19"/>
          <p:cNvSpPr txBox="1"/>
          <p:nvPr/>
        </p:nvSpPr>
        <p:spPr>
          <a:xfrm>
            <a:off x="6620256" y="4334256"/>
            <a:ext cx="5138928" cy="1691640"/>
          </a:xfrm>
          <a:prstGeom prst="rect">
            <a:avLst/>
          </a:prstGeom>
          <a:noFill/>
        </p:spPr>
        <p:txBody>
          <a:bodyPr wrap="square" lIns="0" rIns="0" tIns="0" bIns="0" anchor="t">
            <a:spAutoFit/>
          </a:bodyPr>
          <a:lstStyle/>
          <a:p>
            <a:pPr algn="l">
              <a:lnSpc>
                <a:spcPct val="105000"/>
              </a:lnSpc>
              <a:spcAft>
                <a:spcPts val="600"/>
              </a:spcAft>
            </a:pPr>
            <a:r>
              <a:rPr sz="1400" b="0" i="0">
                <a:solidFill>
                  <a:srgbClr val="44403C"/>
                </a:solidFill>
                <a:latin typeface="Helvetica Neue"/>
              </a:rPr>
              <a:t>The sealed new-site score, once, already said device 3 is not worse than all 24: 54.4% ± 4.6 against 52.2% ± 5.5 at one frame. The seed spread widens to ±5–8 points, and delay-and-sum wins the pool, because most of that flight is inside 90 m. The paper bins and the filter on that flight are a second look at those dumps.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