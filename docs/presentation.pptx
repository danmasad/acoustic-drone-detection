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fifteen minutes between us, and the last minute is the three limits.</a:t>
            </a:r>
          </a:p>
          <a:p>
            <a:r>
              <a:t>We say why the problem is worth a project, then we move. We do not read the slide.</a:t>
            </a:r>
          </a:p>
          <a:p>
            <a:r>
              <a:t>The clip is one flight on the matched site: GPS against our direction, green inside 10°, red outside.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 with the operational constraint, then our question: can a few frames of history let six microphones match twenty-four?</a:t>
            </a:r>
          </a:p>
          <a:p>
            <a:r>
              <a:t>Rodríguez et al., IWAENC 2026, beamform and then segment the map. They released the data and not the training code, and their own future-work sentence is temporal context. We reimplemented their system so the comparison is ours to measure.</a:t>
            </a:r>
          </a:p>
          <a:p>
            <a:r>
              <a:t>We hold the answer. It lands on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stop: best hit rate" means there is no third split. Every epoch we score test 2 by the share of drone frames within 10°, and the weights we save are that best epoch, not the last epoch and not the lowest loss. Test 2 is therefore also the flight in the main table. It is not a pure held-out test.</a:t>
            </a:r>
          </a:p>
          <a:p>
            <a:r>
              <a:t>Test 1 is the one we never used to choose anything. Three minutes, scored once, after the choices were fixed.</a:t>
            </a:r>
          </a:p>
          <a:p>
            <a:r>
              <a:t>The negatives are three scenes. That number comes back when detection fails.</a:t>
            </a:r>
          </a:p>
          <a:p>
            <a:r>
              <a:t>Targets are 10° discs. Row k of the GPS log is frame k. That is the whole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is already on the problem slide. This one is the basis, then what we added.</a:t>
            </a:r>
          </a:p>
          <a:p>
            <a:r>
              <a:t>Where we started is the paper. Delay-and-sum builds the map. Their U-Net paints a mask on it, and the direction is read off that mask. The baseline is the brightest cell of the map with no learning, so a gain over it is the network. Their detection number was whether that direction sat still. We did not start from a detector.</a:t>
            </a:r>
          </a:p>
          <a:p>
            <a:r>
              <a:t>The bottom row is what we added. History is K frames as channels. Detection is two models: the presence branch at the bottom of the U-Net, and the 86k network on one microphone so the test does not depend on the array. More quiet audio is three tries: pre-takeoff from these flights, 4.8 to 8.2 minutes and one scene to three; other recordings mixed in as not-a-drone, which raised the average a little and left the different-day fold at chance; DEMAND, 18 soundscapes, as a test only. At a usable threshold the detector still fires on most of them, about 22,000 false alarms an hour, in the lab notes. The filter runs after the direction and is not trained.</a:t>
            </a:r>
          </a:p>
          <a:p>
            <a:r>
              <a:t>Azimuth uses circular padding. The grid uses 32 filters.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walk the U. Down the left, the 23 by 91 map is pooled three times, to 2 by 11. The number in each box is the channel count at 32 base filters. A skip copies the finer map across, because the direction lives in a small patch of sky.</a:t>
            </a:r>
          </a:p>
          <a:p>
            <a:r>
              <a:t>The green side rebuilds the full map. Nearest-neighbor resizes the coarse map to the skip's exact size, the two are concatenated, and the two convolutions mix them. Pooling does not divide the 23-row map by two, so a plain doubling would miss the skip. The mask is one score per cell, and the direction is the brightest cell. That is the result we report.</a:t>
            </a:r>
          </a:p>
          <a:p>
            <a:r>
              <a:t>The amber branch at the bottom is the presence head. It was supposed to say whether a drone is in the frame. Average and max of the bottleneck, then 128 units and a leaky ReLU, then one score. A plain ReLU in that layer died in one seed, which is why it is leaky. The mask does not pass through it, so localization kept training. The score itself did not generalize, which is the detection slide.</a:t>
            </a:r>
          </a:p>
          <a:p>
            <a:r>
              <a:t>K frames of 16 bands enter as channels. Only the first layer grows with K. The rest of the U is the same at one, five, and nine frames. About 2.0 million weights.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show the hardware before the simulated response, so the map has something to point at.</a:t>
            </a:r>
          </a:p>
          <a:p>
            <a:r>
              <a:t>Top left: four colours, four recorders. Teal is device 3, one recorder, 1.09 m. The figure's own label says that subset is alias-free only below about 380 Hz, and our maps run to 2.2 kHz, which is why the next slide has phantoms.</a:t>
            </a:r>
          </a:p>
          <a:p>
            <a:r>
              <a:t>The title on the figure says test-1 geometry. It is the same hardware. We are not scoring the sealed site on this slide.</a:t>
            </a:r>
          </a:p>
          <a:p>
            <a:r>
              <a:t>The bottom centre is device 3 again. The searched six spans two recorders and is not one of these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is a simulation, not a recording. We place one source at the cyan cross, apply only the geometric delay at each microphone, and beamform every cell. No noise, no drone spectrum, plane-wave delays. Every bright spot besides the cross is a phantom the geometry makes.</a:t>
            </a:r>
          </a:p>
          <a:p>
            <a:r>
              <a:t>The dB numbers printed on the panels are that one source. All 24 shows about −4.2 dB there. The 3.6 dB callout is a different summary: over 250 directions, the 95th percentile of the strongest phantom, for all 24 and also for the best six. 3 dB down would be half the power. 3.6 dB is still nearly half, so one frame's brightest pixel cannot be trusted. That is the margin the network is asked to beat.</a:t>
            </a:r>
          </a:p>
          <a:p>
            <a:r>
              <a:t>Device 4, the flat ring, is a vertical stripe. It cannot tell elevation from its mirror. That is why some six-microphone sets fail.</a:t>
            </a:r>
          </a:p>
          <a:p>
            <a:r>
              <a:t>All 24 includes that flat recorder and a pair 0.17 m apart, so uniform delay-and-sum gives a bad microphone the same vote as a good one. That is why six can match twenty-four before any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network does work. Delay-and-sum on these frames is 33% within 10°. The left plot sits near 70%, and the dot is the epoch we keep. The last epoch is 3 to 10 points worse on that score, which is why we do not keep it.</a:t>
            </a:r>
          </a:p>
          <a:p>
            <a:r>
              <a:t>The dashed line is the loss on test 2, and it rises. That loss is weighted cross-entropy on every pixel, and about 1.4% of pixels are the drone. A few confident mistakes on background pixels drive it up without moving the decoded direction. Generalization of the direction is the flat left plot. Generalization of detection is a different failure, on the detection slide.</a:t>
            </a:r>
          </a:p>
          <a:p>
            <a:r>
              <a:t>Test 2 is the selection set and the main reported flight. Test 1 was scored once, after the choices were fixed.</a:t>
            </a:r>
          </a:p>
          <a:p>
            <a:r>
              <a:t>The hit rate jitters by several points from epoch to epoch. A one-point gap between two trained models is inside that. The yardstick is the seed spread, ±1.2 points pooled.</a:t>
            </a:r>
          </a:p>
          <a:p>
            <a:r>
              <a:t>No learning-rate schedule. We froze the recipe so the rows stay comparable.</a:t>
            </a:r>
          </a:p>
          <a:p>
            <a:r>
              <a:t>One seed killed a ReLU in the presence head and sat at chance detection while localization trained. The head is a leaky ReLU now. The grid was restarted so every cell shares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the chart top to bottom. Learning beats delay-and-sum by a wide margin. Then 6 matches 24 at one frame. Then nine frames helps the six and not the twenty-four. Then the searched array, which won a geometric contest, is the worst thing we trained.</a:t>
            </a:r>
          </a:p>
          <a:p>
            <a:r>
              <a:t>K=5 is 70.1% and 71.1%, inside the noise. The grid's first reading was a null. Nine frames is where the small array pulls ahead.</a:t>
            </a:r>
          </a:p>
          <a:p>
            <a:r>
              <a:t>How the six was searched: no audio and no training. Every non-coplanar subset of 6 out of 24, which is 106,183 subsets. For each, a noise-free plane wave in 250 directions. The score is the strongest response more than 15° from the true direction, at the 95th percentile. The winner ties all 24 at −3.6 dB on that score and then trains at 52%. The score correlates −0.80 with the arrays it did not select, and −0.36 once its own winner is included. We optimized a proxy and selected the error in the proxy. Device 3 was not that winner. It is one recorder, and it is the six we report.</a:t>
            </a:r>
          </a:p>
          <a:p>
            <a:r>
              <a:t>Three seeds cannot give a permutation p below 0.10. These gaps are point estimates. The history deletion on the next slide is the comparison we tested formally.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a drone sits still on the grid while a sidelobe flickers. Persistence does not need the order of the frames, and shuffling or reversing them costs about 0.2. The network agrees.</a:t>
            </a:r>
          </a:p>
          <a:p>
            <a:r>
              <a:t>Why K=5 looked like a null: a wider input costs accuracy before any history is used, and the history earns that cost back. Nine frames is where that term wins, and only on the small array. All 24 at nine frames is 70.1%, the same as one frame. Twenty-four microphones suppress phantoms spatially. Nine frames suppress them in time.</a:t>
            </a:r>
          </a:p>
          <a:p>
            <a:r>
              <a:t>Past 120 m the gain falls back. Two thirds of the labelled frames out there are quieter than typical ambient, so there is nothing to integrate.</a:t>
            </a:r>
          </a:p>
          <a:p>
            <a:r>
              <a:t>What the p-value is. It is not the chance that six beats twenty-four. Those models were trained separately, and three seeds cannot give a permutation p below 0.10.</a:t>
            </a:r>
          </a:p>
          <a:p>
            <a:r>
              <a:t>This p is one paired comparison: the same trained weights, the same frames, once with the real past and once with the past replaced by a copy of the oldest frame we keep. Neighbouring frames are one flight, not thousands of independent trials, so we resampled contiguous blocks. A per-frame test was about 3.5 times too optimistic. Holm adjustment is across the family of claims we tested. p = 0.0007 means that, under that null, a 5.1 point drop this consistent is very unlikely. It is the comparison that survives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clip is eight seconds of the matched-site flight, device 3, one frame, about 56 m out. Orange is the network hopping to a sidelobe. Green is the same directions after the filter, held inside the 10° disc around GPS. Nothing was retrained. The filter runs on the decoded direction.</a:t>
            </a:r>
          </a:p>
          <a:p>
            <a:r>
              <a:t>The cap in these numbers uses the GPS range, which the network does not estimate. Far away the allowed jump shrinks to about 5°, and that is where most of the far-bin gain comes from.</a:t>
            </a:r>
          </a:p>
          <a:p>
            <a:r>
              <a:t>We also checked a fixed 16° cap, the same rule with range held at 10 m. On 24 microphones, one frame: 70.5% raw, 75.7% with the GPS range, 73.7% at 16°. The far bin is 27%, 55%, and 28%. Until we settle which cap we defend, we present the filter as the report does. If asked, the version that does not need GPS is the fixed angle, and it does not produce the far-bin jump.</a:t>
            </a:r>
          </a:p>
          <a:p>
            <a:r>
              <a:t>Where the raw track is stably wrong, the filter holds the error. It is not a repair for a bad array. A hard hold with no second chance wrecks the score, because some jumps are the model correcting itself.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lead with the delay-and-sum check. We reproduce their bars within a few degrees, including the odd dip in the far bin, and their stability rule calls 67.0% of no-drone frames detections against our 68.6%. Geometry, sync offsets, the STFT, the beamformer, the labels, and the metric all agree with an independent implementation.</a:t>
            </a:r>
          </a:p>
          <a:p>
            <a:r>
              <a:t>This table and the hit-rate table do not convert. A mean of 31° in the far bin can still be 2% of frames inside 10°. That is why both exist.</a:t>
            </a:r>
          </a:p>
          <a:p>
            <a:r>
              <a:t>The new-site rows were computed after test 1 had already been scored, on dumps that already existed. It is a second look, not a second sealed trial. 1,592 drone frames, about 2.7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detectors, the pre-takeoff audio, the mixed-in recordings, and the 18 test soundscapes are named on the method slide. Here is what they scored.</a:t>
            </a:r>
          </a:p>
          <a:p>
            <a:r>
              <a:t>The 0.49 is the 86k one-microphone network, held out one whole scene at a time. It is chance. The 0.66 beside it is that same network inside one scene, tied with the U-Net's presence head. The 0.64 is that same detector on the sealed site, and only after averaging all 24 microphones. One microphone there is 0.53. The quiet audio is one minute of one scene, so 0.64 is the within-scene result again. We did not find a winner.</a:t>
            </a:r>
          </a:p>
          <a:p>
            <a:r>
              <a:t>This is the negative result, and it is a data fact. The architecture is not the excuse.</a:t>
            </a:r>
          </a:p>
          <a:p>
            <a:r>
              <a:t>Why we did not replace 0.49 with a precision-recall curve. Drone frames are about 78% of the matched site, so they are the majority, not the rare class. A detector that says "drone" on almost every frame has precision near 0.8, and a PR curve would read that prior as skill. At the threshold that keeps 95% of drones, the map models fire on 84–96% of empty frames and precision is 0.78–0.80 (notes 43). AUROC asks the question that does not hide this: does a random drone frame outscore a random quiet frame? Across scenes, no.</a:t>
            </a:r>
          </a:p>
          <a:p>
            <a:r>
              <a:t>The 0.66 from before was two halves of one afternoon.</a:t>
            </a:r>
          </a:p>
          <a:p>
            <a:r>
              <a:t>On DEMAND, 18 other soundscapes, we measured about 22,000 false alarms an hour. That number is in the lab notes, not the main table.</a:t>
            </a:r>
          </a:p>
          <a:p>
            <a:r>
              <a:t>Past about 90 m, two thirds of labelled drone frames are quieter than typical ambient in the beamformed map. The localizer has the same wall.</a:t>
            </a:r>
          </a:p>
          <a:p>
            <a:r>
              <a:t>The presence probabilities are not probabilities. The head saturates. A 0.5 threshold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close on the trade a deployment actually faces: 0.9 seconds of latency, or 18 more microphones. They do not add.</a:t>
            </a:r>
          </a:p>
          <a:p>
            <a:r>
              <a:t>What we would run next: ambient from more places, and a steering model that does not assume a plane wave.</a:t>
            </a:r>
          </a:p>
          <a:p>
            <a:r>
              <a:t>One drone, one array, two sites. We say the limit ourselves.</a:t>
            </a:r>
          </a:p>
          <a:p>
            <a:r>
              <a:t>The division of work stays in the report. If we are asked in the room, one sentence is enough.</a:t>
            </a:r>
          </a:p>
          <a:p>
            <a:r>
              <a:t>The filter's use of GPS range is still open between us. If we have decided by Thursday, this is the slide to match to that decision.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gif"/><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1417320"/>
            <a:ext cx="566928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60A5FA"/>
                </a:solidFill>
                <a:latin typeface="Helvetica Neue"/>
              </a:rPr>
              <a:t>DEEP LEARNING 2026B  ·  APPLIED</a:t>
            </a:r>
          </a:p>
        </p:txBody>
      </p:sp>
      <p:sp>
        <p:nvSpPr>
          <p:cNvPr id="3" name="TextBox 2"/>
          <p:cNvSpPr txBox="1"/>
          <p:nvPr/>
        </p:nvSpPr>
        <p:spPr>
          <a:xfrm>
            <a:off x="640080" y="1874519"/>
            <a:ext cx="5669280" cy="1645920"/>
          </a:xfrm>
          <a:prstGeom prst="rect">
            <a:avLst/>
          </a:prstGeom>
          <a:noFill/>
        </p:spPr>
        <p:txBody>
          <a:bodyPr wrap="square" lIns="0" rIns="0" tIns="0" bIns="0" anchor="t">
            <a:spAutoFit/>
          </a:bodyPr>
          <a:lstStyle/>
          <a:p>
            <a:pPr algn="l">
              <a:lnSpc>
                <a:spcPct val="96000"/>
              </a:lnSpc>
              <a:spcAft>
                <a:spcPts val="0"/>
              </a:spcAft>
            </a:pPr>
            <a:r>
              <a:rPr sz="4400" b="1" i="0">
                <a:solidFill>
                  <a:srgbClr val="F5F5F4"/>
                </a:solidFill>
                <a:latin typeface="Helvetica Neue"/>
              </a:rPr>
              <a:t>Acoustic Drone</a:t>
            </a:r>
          </a:p>
          <a:p>
            <a:pPr algn="l">
              <a:lnSpc>
                <a:spcPct val="96000"/>
              </a:lnSpc>
              <a:spcAft>
                <a:spcPts val="0"/>
              </a:spcAft>
            </a:pPr>
            <a:r>
              <a:rPr sz="4400" b="1" i="0">
                <a:solidFill>
                  <a:srgbClr val="F5F5F4"/>
                </a:solidFill>
                <a:latin typeface="Helvetica Neue"/>
              </a:rPr>
              <a:t>Detection</a:t>
            </a:r>
          </a:p>
        </p:txBody>
      </p:sp>
      <p:sp>
        <p:nvSpPr>
          <p:cNvPr id="4" name="TextBox 3"/>
          <p:cNvSpPr txBox="1"/>
          <p:nvPr/>
        </p:nvSpPr>
        <p:spPr>
          <a:xfrm>
            <a:off x="640080" y="3977639"/>
            <a:ext cx="5394960" cy="292608"/>
          </a:xfrm>
          <a:prstGeom prst="rect">
            <a:avLst/>
          </a:prstGeom>
          <a:noFill/>
        </p:spPr>
        <p:txBody>
          <a:bodyPr wrap="square" lIns="0" rIns="0" tIns="0" bIns="0" anchor="t">
            <a:spAutoFit/>
          </a:bodyPr>
          <a:lstStyle/>
          <a:p>
            <a:pPr algn="l">
              <a:lnSpc>
                <a:spcPct val="108000"/>
              </a:lnSpc>
              <a:spcAft>
                <a:spcPts val="600"/>
              </a:spcAft>
            </a:pPr>
            <a:r>
              <a:rPr sz="1600" b="0" i="0">
                <a:solidFill>
                  <a:srgbClr val="F5F5F4"/>
                </a:solidFill>
                <a:latin typeface="Helvetica Neue"/>
              </a:rPr>
              <a:t>Shai Livshits  ·  Dan Masad</a:t>
            </a:r>
          </a:p>
        </p:txBody>
      </p:sp>
      <p:sp>
        <p:nvSpPr>
          <p:cNvPr id="5" name="TextBox 4"/>
          <p:cNvSpPr txBox="1"/>
          <p:nvPr/>
        </p:nvSpPr>
        <p:spPr>
          <a:xfrm>
            <a:off x="640080" y="4370832"/>
            <a:ext cx="5394960" cy="256032"/>
          </a:xfrm>
          <a:prstGeom prst="rect">
            <a:avLst/>
          </a:prstGeom>
          <a:noFill/>
        </p:spPr>
        <p:txBody>
          <a:bodyPr wrap="square" lIns="0" rIns="0" tIns="0" bIns="0" anchor="t">
            <a:spAutoFit/>
          </a:bodyPr>
          <a:lstStyle/>
          <a:p>
            <a:pPr algn="l">
              <a:lnSpc>
                <a:spcPct val="108000"/>
              </a:lnSpc>
              <a:spcAft>
                <a:spcPts val="600"/>
              </a:spcAft>
            </a:pPr>
            <a:r>
              <a:rPr sz="1400" b="0" i="0">
                <a:solidFill>
                  <a:srgbClr val="78716C"/>
                </a:solidFill>
                <a:latin typeface="Helvetica Neue"/>
              </a:rPr>
              <a:t>12 October 2026</a:t>
            </a:r>
          </a:p>
        </p:txBody>
      </p:sp>
      <p:pic>
        <p:nvPicPr>
          <p:cNvPr id="6" name="Picture 5" descr="flight_hemisphere_mar18_f2.gif"/>
          <p:cNvPicPr>
            <a:picLocks noChangeAspect="1"/>
          </p:cNvPicPr>
          <p:nvPr/>
        </p:nvPicPr>
        <p:blipFill>
          <a:blip r:embed="rId2"/>
          <a:stretch>
            <a:fillRect/>
          </a:stretch>
        </p:blipFill>
        <p:spPr>
          <a:xfrm>
            <a:off x="6537960" y="1554480"/>
            <a:ext cx="4937760" cy="335694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PROBLEM</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A direction, ten times a second</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2  /  14</a:t>
            </a:r>
          </a:p>
        </p:txBody>
      </p:sp>
      <p:sp>
        <p:nvSpPr>
          <p:cNvPr id="6" name="TextBox 5"/>
          <p:cNvSpPr txBox="1"/>
          <p:nvPr/>
        </p:nvSpPr>
        <p:spPr>
          <a:xfrm>
            <a:off x="502920" y="1417320"/>
            <a:ext cx="6675120" cy="4206240"/>
          </a:xfrm>
          <a:prstGeom prst="rect">
            <a:avLst/>
          </a:prstGeom>
          <a:noFill/>
        </p:spPr>
        <p:txBody>
          <a:bodyPr wrap="square" lIns="0" rIns="0" tIns="0" bIns="0" anchor="t">
            <a:spAutoFit/>
          </a:bodyPr>
          <a:lstStyle/>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A small drone often flies with no radio link. A camera loses it in poor visibility, and a radio detector has nothing to hear.</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The rotors are loud, and the sound is a tonal stack. A ground array can report it.</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Every tenth of a second: is a drone audible, and in which direction.</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Published arrays use 24 or more synchronized microphones.</a:t>
            </a:r>
          </a:p>
        </p:txBody>
      </p:sp>
      <p:sp>
        <p:nvSpPr>
          <p:cNvPr id="7" name="Rounded Rectangle 6"/>
          <p:cNvSpPr/>
          <p:nvPr/>
        </p:nvSpPr>
        <p:spPr>
          <a:xfrm>
            <a:off x="7452360" y="1417320"/>
            <a:ext cx="4206240" cy="4297680"/>
          </a:xfrm>
          <a:prstGeom prst="roundRect">
            <a:avLst>
              <a:gd name="adj" fmla="val 8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627632"/>
            <a:ext cx="3794760" cy="502920"/>
          </a:xfrm>
          <a:prstGeom prst="rect">
            <a:avLst/>
          </a:prstGeom>
          <a:noFill/>
        </p:spPr>
        <p:txBody>
          <a:bodyPr wrap="square" lIns="0" rIns="0" tIns="0" bIns="0" anchor="t">
            <a:spAutoFit/>
          </a:bodyPr>
          <a:lstStyle/>
          <a:p>
            <a:pPr algn="l">
              <a:lnSpc>
                <a:spcPct val="108000"/>
              </a:lnSpc>
              <a:spcAft>
                <a:spcPts val="600"/>
              </a:spcAft>
            </a:pPr>
            <a:r>
              <a:rPr sz="1600" b="1" i="0">
                <a:solidFill>
                  <a:srgbClr val="60A5FA"/>
                </a:solidFill>
                <a:latin typeface="Helvetica Neue"/>
              </a:rPr>
              <a:t>The Research Question</a:t>
            </a:r>
          </a:p>
        </p:txBody>
      </p:sp>
      <p:sp>
        <p:nvSpPr>
          <p:cNvPr id="9" name="TextBox 8"/>
          <p:cNvSpPr txBox="1"/>
          <p:nvPr/>
        </p:nvSpPr>
        <p:spPr>
          <a:xfrm>
            <a:off x="7680960" y="2286000"/>
            <a:ext cx="3794760" cy="1828800"/>
          </a:xfrm>
          <a:prstGeom prst="rect">
            <a:avLst/>
          </a:prstGeom>
          <a:noFill/>
        </p:spPr>
        <p:txBody>
          <a:bodyPr wrap="square" lIns="0" rIns="0" tIns="0" bIns="0" anchor="t">
            <a:spAutoFit/>
          </a:bodyPr>
          <a:lstStyle/>
          <a:p>
            <a:pPr algn="l">
              <a:lnSpc>
                <a:spcPct val="115000"/>
              </a:lnSpc>
              <a:spcAft>
                <a:spcPts val="600"/>
              </a:spcAft>
            </a:pPr>
            <a:r>
              <a:rPr sz="2000" b="0" i="0">
                <a:solidFill>
                  <a:srgbClr val="F5F5F4"/>
                </a:solidFill>
                <a:latin typeface="Helvetica Neue"/>
              </a:rPr>
              <a:t>Can a few frames of history let six microphones match twenty-four?</a:t>
            </a:r>
          </a:p>
        </p:txBody>
      </p:sp>
      <p:sp>
        <p:nvSpPr>
          <p:cNvPr id="10" name="TextBox 9"/>
          <p:cNvSpPr txBox="1"/>
          <p:nvPr/>
        </p:nvSpPr>
        <p:spPr>
          <a:xfrm>
            <a:off x="7680960" y="4297680"/>
            <a:ext cx="3794760" cy="1097280"/>
          </a:xfrm>
          <a:prstGeom prst="rect">
            <a:avLst/>
          </a:prstGeom>
          <a:noFill/>
        </p:spPr>
        <p:txBody>
          <a:bodyPr wrap="square" lIns="0" rIns="0" tIns="0" bIns="0" anchor="t">
            <a:spAutoFit/>
          </a:bodyPr>
          <a:lstStyle/>
          <a:p>
            <a:pPr algn="l">
              <a:lnSpc>
                <a:spcPct val="112000"/>
              </a:lnSpc>
              <a:spcAft>
                <a:spcPts val="600"/>
              </a:spcAft>
            </a:pPr>
            <a:r>
              <a:rPr sz="1500" b="0" i="0">
                <a:solidFill>
                  <a:srgbClr val="A8A29E"/>
                </a:solidFill>
                <a:latin typeface="Helvetica Neue"/>
              </a:rPr>
              <a:t>Six microphones is one off-the-shelf recorder. No clock shared with a second device. About four times cheaper.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DATA</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One drone, two sites, three jobs</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3  /  14</a:t>
            </a:r>
          </a:p>
        </p:txBody>
      </p:sp>
      <p:sp>
        <p:nvSpPr>
          <p:cNvPr id="6" name="TextBox 5"/>
          <p:cNvSpPr txBox="1"/>
          <p:nvPr/>
        </p:nvSpPr>
        <p:spPr>
          <a:xfrm>
            <a:off x="502920" y="1325880"/>
            <a:ext cx="11155680" cy="365760"/>
          </a:xfrm>
          <a:prstGeom prst="rect">
            <a:avLst/>
          </a:prstGeom>
          <a:noFill/>
        </p:spPr>
        <p:txBody>
          <a:bodyPr wrap="square" lIns="0" rIns="0" tIns="0" bIns="0" anchor="t">
            <a:spAutoFit/>
          </a:bodyPr>
          <a:lstStyle/>
          <a:p>
            <a:pPr algn="l">
              <a:lnSpc>
                <a:spcPct val="108000"/>
              </a:lnSpc>
              <a:spcAft>
                <a:spcPts val="600"/>
              </a:spcAft>
            </a:pPr>
            <a:r>
              <a:rPr sz="1600" b="0" i="0">
                <a:solidFill>
                  <a:srgbClr val="44403C"/>
                </a:solidFill>
                <a:latin typeface="Helvetica Neue"/>
              </a:rPr>
              <a:t>Western Sydney University array. A DJI Air 3, four recorders of six, 48 kHz, GPS at 10 Hz. Splits are the paper's.</a:t>
            </a:r>
          </a:p>
        </p:txBody>
      </p:sp>
      <p:sp>
        <p:nvSpPr>
          <p:cNvPr id="7" name="TextBox 6"/>
          <p:cNvSpPr txBox="1"/>
          <p:nvPr/>
        </p:nvSpPr>
        <p:spPr>
          <a:xfrm>
            <a:off x="502920" y="1874519"/>
            <a:ext cx="1755648" cy="329184"/>
          </a:xfrm>
          <a:prstGeom prst="rect">
            <a:avLst/>
          </a:prstGeom>
          <a:noFill/>
        </p:spPr>
        <p:txBody>
          <a:bodyPr wrap="square" lIns="0" rIns="0" tIns="0" bIns="0" anchor="t">
            <a:spAutoFit/>
          </a:bodyPr>
          <a:lstStyle/>
          <a:p>
            <a:pPr algn="l">
              <a:lnSpc>
                <a:spcPct val="108000"/>
              </a:lnSpc>
              <a:spcAft>
                <a:spcPts val="0"/>
              </a:spcAft>
            </a:pPr>
            <a:r>
              <a:rPr sz="1200" b="1" i="0">
                <a:solidFill>
                  <a:srgbClr val="78716C"/>
                </a:solidFill>
                <a:latin typeface="Helvetica Neue"/>
              </a:rPr>
              <a:t>Split</a:t>
            </a:r>
          </a:p>
        </p:txBody>
      </p:sp>
      <p:sp>
        <p:nvSpPr>
          <p:cNvPr id="8" name="TextBox 7"/>
          <p:cNvSpPr txBox="1"/>
          <p:nvPr/>
        </p:nvSpPr>
        <p:spPr>
          <a:xfrm>
            <a:off x="2331720" y="1874519"/>
            <a:ext cx="294436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Where</a:t>
            </a:r>
          </a:p>
        </p:txBody>
      </p:sp>
      <p:sp>
        <p:nvSpPr>
          <p:cNvPr id="9" name="TextBox 8"/>
          <p:cNvSpPr txBox="1"/>
          <p:nvPr/>
        </p:nvSpPr>
        <p:spPr>
          <a:xfrm>
            <a:off x="5349240" y="1874519"/>
            <a:ext cx="193852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Drone audio</a:t>
            </a:r>
          </a:p>
        </p:txBody>
      </p:sp>
      <p:sp>
        <p:nvSpPr>
          <p:cNvPr id="10" name="TextBox 9"/>
          <p:cNvSpPr txBox="1"/>
          <p:nvPr/>
        </p:nvSpPr>
        <p:spPr>
          <a:xfrm>
            <a:off x="7360920" y="1874519"/>
            <a:ext cx="4133087"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What we used it for</a:t>
            </a:r>
          </a:p>
        </p:txBody>
      </p:sp>
      <p:cxnSp>
        <p:nvCxnSpPr>
          <p:cNvPr id="11" name="Connector 10"/>
          <p:cNvCxnSpPr/>
          <p:nvPr/>
        </p:nvCxnSpPr>
        <p:spPr>
          <a:xfrm>
            <a:off x="502920" y="2240279"/>
            <a:ext cx="11064240" cy="0"/>
          </a:xfrm>
          <a:prstGeom prst="line">
            <a:avLst/>
          </a:prstGeom>
          <a:ln w="12700">
            <a:solidFill>
              <a:srgbClr val="78716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2331720"/>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Train</a:t>
            </a:r>
          </a:p>
        </p:txBody>
      </p:sp>
      <p:sp>
        <p:nvSpPr>
          <p:cNvPr id="13" name="TextBox 12"/>
          <p:cNvSpPr txBox="1"/>
          <p:nvPr/>
        </p:nvSpPr>
        <p:spPr>
          <a:xfrm>
            <a:off x="2331720" y="2331720"/>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Site 1, two flights</a:t>
            </a:r>
          </a:p>
        </p:txBody>
      </p:sp>
      <p:sp>
        <p:nvSpPr>
          <p:cNvPr id="14" name="TextBox 13"/>
          <p:cNvSpPr txBox="1"/>
          <p:nvPr/>
        </p:nvSpPr>
        <p:spPr>
          <a:xfrm>
            <a:off x="5349240" y="2331720"/>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52 min</a:t>
            </a:r>
          </a:p>
        </p:txBody>
      </p:sp>
      <p:sp>
        <p:nvSpPr>
          <p:cNvPr id="15" name="TextBox 14"/>
          <p:cNvSpPr txBox="1"/>
          <p:nvPr/>
        </p:nvSpPr>
        <p:spPr>
          <a:xfrm>
            <a:off x="7360920" y="2331720"/>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Fit the weights</a:t>
            </a:r>
          </a:p>
        </p:txBody>
      </p:sp>
      <p:cxnSp>
        <p:nvCxnSpPr>
          <p:cNvPr id="16" name="Connector 15"/>
          <p:cNvCxnSpPr/>
          <p:nvPr/>
        </p:nvCxnSpPr>
        <p:spPr>
          <a:xfrm>
            <a:off x="502920" y="2779775"/>
            <a:ext cx="1106424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2834639"/>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Test 2</a:t>
            </a:r>
          </a:p>
        </p:txBody>
      </p:sp>
      <p:sp>
        <p:nvSpPr>
          <p:cNvPr id="18" name="TextBox 17"/>
          <p:cNvSpPr txBox="1"/>
          <p:nvPr/>
        </p:nvSpPr>
        <p:spPr>
          <a:xfrm>
            <a:off x="2331720" y="2834639"/>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Site 1, later flight</a:t>
            </a:r>
          </a:p>
        </p:txBody>
      </p:sp>
      <p:sp>
        <p:nvSpPr>
          <p:cNvPr id="19" name="TextBox 18"/>
          <p:cNvSpPr txBox="1"/>
          <p:nvPr/>
        </p:nvSpPr>
        <p:spPr>
          <a:xfrm>
            <a:off x="5349240" y="2834639"/>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20 min</a:t>
            </a:r>
          </a:p>
        </p:txBody>
      </p:sp>
      <p:sp>
        <p:nvSpPr>
          <p:cNvPr id="20" name="TextBox 19"/>
          <p:cNvSpPr txBox="1"/>
          <p:nvPr/>
        </p:nvSpPr>
        <p:spPr>
          <a:xfrm>
            <a:off x="7360920" y="2834639"/>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Early stop: best hit rate</a:t>
            </a:r>
          </a:p>
        </p:txBody>
      </p:sp>
      <p:cxnSp>
        <p:nvCxnSpPr>
          <p:cNvPr id="21" name="Connector 20"/>
          <p:cNvCxnSpPr/>
          <p:nvPr/>
        </p:nvCxnSpPr>
        <p:spPr>
          <a:xfrm>
            <a:off x="502920" y="3282695"/>
            <a:ext cx="1106424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2920" y="3337560"/>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Test 1</a:t>
            </a:r>
          </a:p>
        </p:txBody>
      </p:sp>
      <p:sp>
        <p:nvSpPr>
          <p:cNvPr id="23" name="TextBox 22"/>
          <p:cNvSpPr txBox="1"/>
          <p:nvPr/>
        </p:nvSpPr>
        <p:spPr>
          <a:xfrm>
            <a:off x="2331720" y="3337560"/>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A second site</a:t>
            </a:r>
          </a:p>
        </p:txBody>
      </p:sp>
      <p:sp>
        <p:nvSpPr>
          <p:cNvPr id="24" name="TextBox 23"/>
          <p:cNvSpPr txBox="1"/>
          <p:nvPr/>
        </p:nvSpPr>
        <p:spPr>
          <a:xfrm>
            <a:off x="5349240" y="3337560"/>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 min</a:t>
            </a:r>
          </a:p>
        </p:txBody>
      </p:sp>
      <p:sp>
        <p:nvSpPr>
          <p:cNvPr id="25" name="TextBox 24"/>
          <p:cNvSpPr txBox="1"/>
          <p:nvPr/>
        </p:nvSpPr>
        <p:spPr>
          <a:xfrm>
            <a:off x="7360920" y="3337560"/>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Sealed. Scored once</a:t>
            </a:r>
          </a:p>
        </p:txBody>
      </p:sp>
      <p:sp>
        <p:nvSpPr>
          <p:cNvPr id="26" name="Rounded Rectangle 25"/>
          <p:cNvSpPr/>
          <p:nvPr/>
        </p:nvSpPr>
        <p:spPr>
          <a:xfrm>
            <a:off x="502920" y="4160520"/>
            <a:ext cx="11155680" cy="201168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343400"/>
            <a:ext cx="10698480" cy="320040"/>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weak part is the quiet audio</a:t>
            </a:r>
          </a:p>
        </p:txBody>
      </p:sp>
      <p:sp>
        <p:nvSpPr>
          <p:cNvPr id="28" name="TextBox 27"/>
          <p:cNvSpPr txBox="1"/>
          <p:nvPr/>
        </p:nvSpPr>
        <p:spPr>
          <a:xfrm>
            <a:off x="731520" y="4754880"/>
            <a:ext cx="10698480" cy="1188720"/>
          </a:xfrm>
          <a:prstGeom prst="rect">
            <a:avLst/>
          </a:prstGeom>
          <a:noFill/>
        </p:spPr>
        <p:txBody>
          <a:bodyPr wrap="square" lIns="0" rIns="0" tIns="0" bIns="0" anchor="t">
            <a:spAutoFit/>
          </a:bodyPr>
          <a:lstStyle/>
          <a:p>
            <a:pPr algn="l">
              <a:lnSpc>
                <a:spcPct val="112000"/>
              </a:lnSpc>
              <a:spcAft>
                <a:spcPts val="600"/>
              </a:spcAft>
            </a:pPr>
            <a:r>
              <a:rPr sz="1500" b="0" i="0">
                <a:solidFill>
                  <a:srgbClr val="44403C"/>
                </a:solidFill>
                <a:latin typeface="Helvetica Neue"/>
              </a:rPr>
              <a:t>The release labels about five minutes with no drone, one recording cut in half between train and test. We mined the pre-takeoff audio the splits never use, checked by beamformed contrast that it is ambient, and dropped 20 seconds for motor spin-up. Training negatives went from 4.8 to 8.2 minutes, and from one scene to three. That is still not enough to learn a detector.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METHOD</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What we tried</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4  /  14</a:t>
            </a:r>
          </a:p>
        </p:txBody>
      </p:sp>
      <p:sp>
        <p:nvSpPr>
          <p:cNvPr id="6" name="TextBox 5"/>
          <p:cNvSpPr txBox="1"/>
          <p:nvPr/>
        </p:nvSpPr>
        <p:spPr>
          <a:xfrm>
            <a:off x="502920" y="1261872"/>
            <a:ext cx="5486400" cy="237744"/>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WHERE WE STARTED</a:t>
            </a:r>
          </a:p>
        </p:txBody>
      </p:sp>
      <p:sp>
        <p:nvSpPr>
          <p:cNvPr id="7" name="Rounded Rectangle 6"/>
          <p:cNvSpPr/>
          <p:nvPr/>
        </p:nvSpPr>
        <p:spPr>
          <a:xfrm>
            <a:off x="50292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map</a:t>
            </a:r>
          </a:p>
        </p:txBody>
      </p:sp>
      <p:sp>
        <p:nvSpPr>
          <p:cNvPr id="9" name="TextBox 8"/>
          <p:cNvSpPr txBox="1"/>
          <p:nvPr/>
        </p:nvSpPr>
        <p:spPr>
          <a:xfrm>
            <a:off x="64922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Delay-and-sum. Each 100 ms frame becomes 23 by 91 directions, in 16 bands.</a:t>
            </a:r>
          </a:p>
        </p:txBody>
      </p:sp>
      <p:sp>
        <p:nvSpPr>
          <p:cNvPr id="10" name="Rounded Rectangle 9"/>
          <p:cNvSpPr/>
          <p:nvPr/>
        </p:nvSpPr>
        <p:spPr>
          <a:xfrm>
            <a:off x="434340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70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U-Net</a:t>
            </a:r>
          </a:p>
        </p:txBody>
      </p:sp>
      <p:sp>
        <p:nvSpPr>
          <p:cNvPr id="12" name="TextBox 11"/>
          <p:cNvSpPr txBox="1"/>
          <p:nvPr/>
        </p:nvSpPr>
        <p:spPr>
          <a:xfrm>
            <a:off x="448970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The paper's network. It reads that map as an image and paints a mask. The direction is read off the mask.</a:t>
            </a:r>
          </a:p>
        </p:txBody>
      </p:sp>
      <p:sp>
        <p:nvSpPr>
          <p:cNvPr id="13" name="Rounded Rectangle 12"/>
          <p:cNvSpPr/>
          <p:nvPr/>
        </p:nvSpPr>
        <p:spPr>
          <a:xfrm>
            <a:off x="818388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baseline</a:t>
            </a:r>
          </a:p>
        </p:txBody>
      </p:sp>
      <p:sp>
        <p:nvSpPr>
          <p:cNvPr id="15" name="TextBox 14"/>
          <p:cNvSpPr txBox="1"/>
          <p:nvPr/>
        </p:nvSpPr>
        <p:spPr>
          <a:xfrm>
            <a:off x="833018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The brightest cell of the map itself. No learning, so a gain over it is the network.</a:t>
            </a:r>
          </a:p>
        </p:txBody>
      </p:sp>
      <p:sp>
        <p:nvSpPr>
          <p:cNvPr id="16" name="TextBox 15"/>
          <p:cNvSpPr txBox="1"/>
          <p:nvPr/>
        </p:nvSpPr>
        <p:spPr>
          <a:xfrm>
            <a:off x="502920" y="3621024"/>
            <a:ext cx="7315200" cy="237744"/>
          </a:xfrm>
          <a:prstGeom prst="rect">
            <a:avLst/>
          </a:prstGeom>
          <a:noFill/>
        </p:spPr>
        <p:txBody>
          <a:bodyPr wrap="square" lIns="0" rIns="0" tIns="0" bIns="0" anchor="t">
            <a:spAutoFit/>
          </a:bodyPr>
          <a:lstStyle/>
          <a:p>
            <a:pPr algn="l">
              <a:lnSpc>
                <a:spcPct val="108000"/>
              </a:lnSpc>
              <a:spcAft>
                <a:spcPts val="600"/>
              </a:spcAft>
            </a:pPr>
            <a:r>
              <a:rPr sz="1200" b="1" i="0">
                <a:solidFill>
                  <a:srgbClr val="1C1917"/>
                </a:solidFill>
                <a:latin typeface="Helvetica Neue"/>
              </a:rPr>
              <a:t>HOW WE TRIED TO GET AN EDGE</a:t>
            </a:r>
          </a:p>
        </p:txBody>
      </p:sp>
      <p:sp>
        <p:nvSpPr>
          <p:cNvPr id="17" name="Rounded Rectangle 16"/>
          <p:cNvSpPr/>
          <p:nvPr/>
        </p:nvSpPr>
        <p:spPr>
          <a:xfrm>
            <a:off x="50292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History</a:t>
            </a:r>
          </a:p>
        </p:txBody>
      </p:sp>
      <p:sp>
        <p:nvSpPr>
          <p:cNvPr id="19" name="TextBox 18"/>
          <p:cNvSpPr txBox="1"/>
          <p:nvPr/>
        </p:nvSpPr>
        <p:spPr>
          <a:xfrm>
            <a:off x="63093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K past frames stacked as channels. K is 1, 5, or 9.</a:t>
            </a:r>
          </a:p>
        </p:txBody>
      </p:sp>
      <p:sp>
        <p:nvSpPr>
          <p:cNvPr id="20" name="Rounded Rectangle 19"/>
          <p:cNvSpPr/>
          <p:nvPr/>
        </p:nvSpPr>
        <p:spPr>
          <a:xfrm>
            <a:off x="342900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Detection, two ways</a:t>
            </a:r>
          </a:p>
        </p:txBody>
      </p:sp>
      <p:sp>
        <p:nvSpPr>
          <p:cNvPr id="22" name="TextBox 21"/>
          <p:cNvSpPr txBox="1"/>
          <p:nvPr/>
        </p:nvSpPr>
        <p:spPr>
          <a:xfrm>
            <a:off x="355701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A presence score on the U-Net. And an 86k network on one microphone, with no array.</a:t>
            </a:r>
          </a:p>
        </p:txBody>
      </p:sp>
      <p:sp>
        <p:nvSpPr>
          <p:cNvPr id="23" name="Rounded Rectangle 22"/>
          <p:cNvSpPr/>
          <p:nvPr/>
        </p:nvSpPr>
        <p:spPr>
          <a:xfrm>
            <a:off x="635508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More quiet audio</a:t>
            </a:r>
          </a:p>
        </p:txBody>
      </p:sp>
      <p:sp>
        <p:nvSpPr>
          <p:cNvPr id="25" name="TextBox 24"/>
          <p:cNvSpPr txBox="1"/>
          <p:nvPr/>
        </p:nvSpPr>
        <p:spPr>
          <a:xfrm>
            <a:off x="648309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Pre-takeoff from these flights, 4.8 to 8.2 minutes. Other recordings mixed in. 18 soundscapes as a test only.</a:t>
            </a:r>
          </a:p>
        </p:txBody>
      </p:sp>
      <p:sp>
        <p:nvSpPr>
          <p:cNvPr id="26" name="Rounded Rectangle 25"/>
          <p:cNvSpPr/>
          <p:nvPr/>
        </p:nvSpPr>
        <p:spPr>
          <a:xfrm>
            <a:off x="928116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0917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A filter</a:t>
            </a:r>
          </a:p>
        </p:txBody>
      </p:sp>
      <p:sp>
        <p:nvSpPr>
          <p:cNvPr id="28" name="TextBox 27"/>
          <p:cNvSpPr txBox="1"/>
          <p:nvPr/>
        </p:nvSpPr>
        <p:spPr>
          <a:xfrm>
            <a:off x="940917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After the direction. A jump the aircraft cannot make. Not trained.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NETWORK</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One U-Net, two answers</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5  /  14</a:t>
            </a:r>
          </a:p>
        </p:txBody>
      </p:sp>
      <p:pic>
        <p:nvPicPr>
          <p:cNvPr id="6" name="Picture 5" descr="unet_structure.png"/>
          <p:cNvPicPr>
            <a:picLocks noChangeAspect="1"/>
          </p:cNvPicPr>
          <p:nvPr/>
        </p:nvPicPr>
        <p:blipFill>
          <a:blip r:embed="rId2"/>
          <a:stretch>
            <a:fillRect/>
          </a:stretch>
        </p:blipFill>
        <p:spPr>
          <a:xfrm>
            <a:off x="182880" y="1234440"/>
            <a:ext cx="11795760" cy="485138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ARRAY</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Four recorders, six microphones each</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6  /  14</a:t>
            </a:r>
          </a:p>
        </p:txBody>
      </p:sp>
      <p:pic>
        <p:nvPicPr>
          <p:cNvPr id="6" name="Picture 5" descr="array_geometry.png"/>
          <p:cNvPicPr>
            <a:picLocks noChangeAspect="1"/>
          </p:cNvPicPr>
          <p:nvPr/>
        </p:nvPicPr>
        <p:blipFill>
          <a:blip r:embed="rId2"/>
          <a:stretch>
            <a:fillRect/>
          </a:stretch>
        </p:blipFill>
        <p:spPr>
          <a:xfrm>
            <a:off x="256032" y="1261872"/>
            <a:ext cx="7452360" cy="5133090"/>
          </a:xfrm>
          <a:prstGeom prst="rect">
            <a:avLst/>
          </a:prstGeom>
        </p:spPr>
      </p:pic>
      <p:sp>
        <p:nvSpPr>
          <p:cNvPr id="7" name="TextBox 6"/>
          <p:cNvSpPr txBox="1"/>
          <p:nvPr/>
        </p:nvSpPr>
        <p:spPr>
          <a:xfrm>
            <a:off x="7863840" y="135331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Colour is the recorder</a:t>
            </a:r>
          </a:p>
        </p:txBody>
      </p:sp>
      <p:sp>
        <p:nvSpPr>
          <p:cNvPr id="8" name="TextBox 7"/>
          <p:cNvSpPr txBox="1"/>
          <p:nvPr/>
        </p:nvSpPr>
        <p:spPr>
          <a:xfrm>
            <a:off x="7863840" y="166420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Purple, blue, teal, yellow. Each is one Zoom recorder, so the six share a clock.</a:t>
            </a:r>
          </a:p>
        </p:txBody>
      </p:sp>
      <p:sp>
        <p:nvSpPr>
          <p:cNvPr id="9" name="TextBox 8"/>
          <p:cNvSpPr txBox="1"/>
          <p:nvPr/>
        </p:nvSpPr>
        <p:spPr>
          <a:xfrm>
            <a:off x="7863840" y="254203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Teal is device 3</a:t>
            </a:r>
          </a:p>
        </p:txBody>
      </p:sp>
      <p:sp>
        <p:nvSpPr>
          <p:cNvPr id="10" name="TextBox 9"/>
          <p:cNvSpPr txBox="1"/>
          <p:nvPr/>
        </p:nvSpPr>
        <p:spPr>
          <a:xfrm>
            <a:off x="7863840" y="285292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six we train. 1.09 m across, the outer microphones of one recorder.</a:t>
            </a:r>
          </a:p>
        </p:txBody>
      </p:sp>
      <p:sp>
        <p:nvSpPr>
          <p:cNvPr id="11" name="TextBox 10"/>
          <p:cNvSpPr txBox="1"/>
          <p:nvPr/>
        </p:nvSpPr>
        <p:spPr>
          <a:xfrm>
            <a:off x="7863840" y="373075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bottom row</a:t>
            </a:r>
          </a:p>
        </p:txBody>
      </p:sp>
      <p:sp>
        <p:nvSpPr>
          <p:cNvPr id="12" name="TextBox 11"/>
          <p:cNvSpPr txBox="1"/>
          <p:nvPr/>
        </p:nvSpPr>
        <p:spPr>
          <a:xfrm>
            <a:off x="7863840" y="404164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Other subsets we drew. Centre is device 3 again. The searched six is not a picture here.</a:t>
            </a:r>
          </a:p>
        </p:txBody>
      </p:sp>
      <p:sp>
        <p:nvSpPr>
          <p:cNvPr id="13" name="TextBox 12"/>
          <p:cNvSpPr txBox="1"/>
          <p:nvPr/>
        </p:nvSpPr>
        <p:spPr>
          <a:xfrm>
            <a:off x="7863840" y="491947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Then the map</a:t>
            </a:r>
          </a:p>
        </p:txBody>
      </p:sp>
      <p:sp>
        <p:nvSpPr>
          <p:cNvPr id="14" name="TextBox 13"/>
          <p:cNvSpPr txBox="1"/>
          <p:nvPr/>
        </p:nvSpPr>
        <p:spPr>
          <a:xfrm>
            <a:off x="7863840" y="523036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Next slide is one simulated source through this geometry.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MAP</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A phantom can look like the source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7  /  14</a:t>
            </a:r>
          </a:p>
        </p:txBody>
      </p:sp>
      <p:pic>
        <p:nvPicPr>
          <p:cNvPr id="6" name="Picture 5" descr="array_beampattern.png"/>
          <p:cNvPicPr>
            <a:picLocks noChangeAspect="1"/>
          </p:cNvPicPr>
          <p:nvPr/>
        </p:nvPicPr>
        <p:blipFill>
          <a:blip r:embed="rId2"/>
          <a:stretch>
            <a:fillRect/>
          </a:stretch>
        </p:blipFill>
        <p:spPr>
          <a:xfrm>
            <a:off x="365760" y="1325880"/>
            <a:ext cx="7452360" cy="4472281"/>
          </a:xfrm>
          <a:prstGeom prst="rect">
            <a:avLst/>
          </a:prstGeom>
        </p:spPr>
      </p:pic>
      <p:sp>
        <p:nvSpPr>
          <p:cNvPr id="7" name="TextBox 6"/>
          <p:cNvSpPr txBox="1"/>
          <p:nvPr/>
        </p:nvSpPr>
        <p:spPr>
          <a:xfrm>
            <a:off x="8001000" y="135331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1.47 kHz</a:t>
            </a:r>
          </a:p>
        </p:txBody>
      </p:sp>
      <p:sp>
        <p:nvSpPr>
          <p:cNvPr id="8" name="TextBox 7"/>
          <p:cNvSpPr txBox="1"/>
          <p:nvPr/>
        </p:nvSpPr>
        <p:spPr>
          <a:xfrm>
            <a:off x="8001000" y="166420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Spacing is alias-free only below this. The maps run to 2.2 kHz.</a:t>
            </a:r>
          </a:p>
        </p:txBody>
      </p:sp>
      <p:sp>
        <p:nvSpPr>
          <p:cNvPr id="9" name="TextBox 8"/>
          <p:cNvSpPr txBox="1"/>
          <p:nvPr/>
        </p:nvSpPr>
        <p:spPr>
          <a:xfrm>
            <a:off x="8001000" y="254203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3.6 dB</a:t>
            </a:r>
          </a:p>
        </p:txBody>
      </p:sp>
      <p:sp>
        <p:nvSpPr>
          <p:cNvPr id="10" name="TextBox 9"/>
          <p:cNvSpPr txBox="1"/>
          <p:nvPr/>
        </p:nvSpPr>
        <p:spPr>
          <a:xfrm>
            <a:off x="8001000" y="285292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Not the number on the panels. Over 250 directions, the phantom all 24 still leave. Nearly half the true peak.</a:t>
            </a:r>
          </a:p>
        </p:txBody>
      </p:sp>
      <p:sp>
        <p:nvSpPr>
          <p:cNvPr id="11" name="TextBox 10"/>
          <p:cNvSpPr txBox="1"/>
          <p:nvPr/>
        </p:nvSpPr>
        <p:spPr>
          <a:xfrm>
            <a:off x="8001000" y="373075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Device 3</a:t>
            </a:r>
          </a:p>
        </p:txBody>
      </p:sp>
      <p:sp>
        <p:nvSpPr>
          <p:cNvPr id="12" name="TextBox 11"/>
          <p:cNvSpPr txBox="1"/>
          <p:nvPr/>
        </p:nvSpPr>
        <p:spPr>
          <a:xfrm>
            <a:off x="8001000" y="404164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One recorder. Six outer microphones, 1.09 m across. No shared clock.</a:t>
            </a:r>
          </a:p>
        </p:txBody>
      </p:sp>
      <p:sp>
        <p:nvSpPr>
          <p:cNvPr id="13" name="TextBox 12"/>
          <p:cNvSpPr txBox="1"/>
          <p:nvPr/>
        </p:nvSpPr>
        <p:spPr>
          <a:xfrm>
            <a:off x="8001000" y="491947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Why a network</a:t>
            </a:r>
          </a:p>
        </p:txBody>
      </p:sp>
      <p:sp>
        <p:nvSpPr>
          <p:cNvPr id="14" name="TextBox 13"/>
          <p:cNvSpPr txBox="1"/>
          <p:nvPr/>
        </p:nvSpPr>
        <p:spPr>
          <a:xfrm>
            <a:off x="8001000" y="523036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brightest pixel cannot tell the phantom from the source. The mask sees the whole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TRAINING</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We keep the best test-2 hit rate, not the last epoch</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8  /  14</a:t>
            </a:r>
          </a:p>
        </p:txBody>
      </p:sp>
      <p:sp>
        <p:nvSpPr>
          <p:cNvPr id="6" name="Rounded Rectangle 5"/>
          <p:cNvSpPr/>
          <p:nvPr/>
        </p:nvSpPr>
        <p:spPr>
          <a:xfrm>
            <a:off x="50292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Adam, 5×10⁻³</a:t>
            </a:r>
          </a:p>
        </p:txBody>
      </p:sp>
      <p:sp>
        <p:nvSpPr>
          <p:cNvPr id="8" name="TextBox 7"/>
          <p:cNvSpPr txBox="1"/>
          <p:nvPr/>
        </p:nvSpPr>
        <p:spPr>
          <a:xfrm>
            <a:off x="66751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Constant. No weight decay. Batch 32. Batch norm, dropout 0.1.</a:t>
            </a:r>
          </a:p>
        </p:txBody>
      </p:sp>
      <p:sp>
        <p:nvSpPr>
          <p:cNvPr id="9" name="Rounded Rectangle 8"/>
          <p:cNvSpPr/>
          <p:nvPr/>
        </p:nvSpPr>
        <p:spPr>
          <a:xfrm>
            <a:off x="434340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Weighted loss</a:t>
            </a:r>
          </a:p>
        </p:txBody>
      </p:sp>
      <p:sp>
        <p:nvSpPr>
          <p:cNvPr id="11" name="TextBox 10"/>
          <p:cNvSpPr txBox="1"/>
          <p:nvPr/>
        </p:nvSpPr>
        <p:spPr>
          <a:xfrm>
            <a:off x="450799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1.4% of pixels are the drone. Unweighted, empty sky wins.</a:t>
            </a:r>
          </a:p>
        </p:txBody>
      </p:sp>
      <p:sp>
        <p:nvSpPr>
          <p:cNvPr id="12" name="Rounded Rectangle 11"/>
          <p:cNvSpPr/>
          <p:nvPr/>
        </p:nvSpPr>
        <p:spPr>
          <a:xfrm>
            <a:off x="818388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Patience 10</a:t>
            </a:r>
          </a:p>
        </p:txBody>
      </p:sp>
      <p:sp>
        <p:nvSpPr>
          <p:cNvPr id="14" name="TextBox 13"/>
          <p:cNvSpPr txBox="1"/>
          <p:nvPr/>
        </p:nvSpPr>
        <p:spPr>
          <a:xfrm>
            <a:off x="834847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At least 15 epochs, at most 60. Three seeds. Test 1 stays sealed.</a:t>
            </a:r>
          </a:p>
        </p:txBody>
      </p:sp>
      <p:pic>
        <p:nvPicPr>
          <p:cNvPr id="15" name="Picture 14" descr="_training_device3_k1.png"/>
          <p:cNvPicPr>
            <a:picLocks noChangeAspect="1"/>
          </p:cNvPicPr>
          <p:nvPr/>
        </p:nvPicPr>
        <p:blipFill>
          <a:blip r:embed="rId2"/>
          <a:stretch>
            <a:fillRect/>
          </a:stretch>
        </p:blipFill>
        <p:spPr>
          <a:xfrm>
            <a:off x="457200" y="2743200"/>
            <a:ext cx="11247120" cy="3136697"/>
          </a:xfrm>
          <a:prstGeom prst="rect">
            <a:avLst/>
          </a:prstGeom>
        </p:spPr>
      </p:pic>
      <p:sp>
        <p:nvSpPr>
          <p:cNvPr id="16" name="TextBox 15"/>
          <p:cNvSpPr txBox="1"/>
          <p:nvPr/>
        </p:nvSpPr>
        <p:spPr>
          <a:xfrm>
            <a:off x="502920" y="5925312"/>
            <a:ext cx="11155680" cy="502920"/>
          </a:xfrm>
          <a:prstGeom prst="rect">
            <a:avLst/>
          </a:prstGeom>
          <a:noFill/>
        </p:spPr>
        <p:txBody>
          <a:bodyPr wrap="square" lIns="0" rIns="0" tIns="0" bIns="0" anchor="t">
            <a:spAutoFit/>
          </a:bodyPr>
          <a:lstStyle/>
          <a:p>
            <a:pPr algn="l">
              <a:lnSpc>
                <a:spcPct val="108000"/>
              </a:lnSpc>
              <a:spcAft>
                <a:spcPts val="600"/>
              </a:spcAft>
            </a:pPr>
            <a:r>
              <a:rPr sz="1400" b="0" i="0">
                <a:solidFill>
                  <a:srgbClr val="44403C"/>
                </a:solidFill>
                <a:latin typeface="Helvetica Neue"/>
              </a:rPr>
              <a:t>Device 3, one frame. The dot is the epoch we keep. Solid is training loss, dashed is test 2. The direction stays near 70%. The loss rises because a few confident wrong pixels dominate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RESULTS  ·  MATCHED SITE</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Six microphones match twenty-four</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9  /  14</a:t>
            </a:r>
          </a:p>
        </p:txBody>
      </p:sp>
      <p:sp>
        <p:nvSpPr>
          <p:cNvPr id="6" name="TextBox 5"/>
          <p:cNvSpPr txBox="1"/>
          <p:nvPr/>
        </p:nvSpPr>
        <p:spPr>
          <a:xfrm>
            <a:off x="502920" y="1280160"/>
            <a:ext cx="11155680" cy="5029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Every drone frame, before the filter. Within 10° of the true direction. The bar is the seed spread. Pooled seed spread on this site is ±1.2 points.</a:t>
            </a:r>
          </a:p>
        </p:txBody>
      </p:sp>
      <p:pic>
        <p:nvPicPr>
          <p:cNvPr id="7" name="Picture 6" descr="headline_within_10.png"/>
          <p:cNvPicPr>
            <a:picLocks noChangeAspect="1"/>
          </p:cNvPicPr>
          <p:nvPr/>
        </p:nvPicPr>
        <p:blipFill>
          <a:blip r:embed="rId2"/>
          <a:stretch>
            <a:fillRect/>
          </a:stretch>
        </p:blipFill>
        <p:spPr>
          <a:xfrm>
            <a:off x="411480" y="1828800"/>
            <a:ext cx="6858000" cy="3289986"/>
          </a:xfrm>
          <a:prstGeom prst="rect">
            <a:avLst/>
          </a:prstGeom>
        </p:spPr>
      </p:pic>
      <p:sp>
        <p:nvSpPr>
          <p:cNvPr id="8" name="Rounded Rectangle 7"/>
          <p:cNvSpPr/>
          <p:nvPr/>
        </p:nvSpPr>
        <p:spPr>
          <a:xfrm>
            <a:off x="7452360" y="1965960"/>
            <a:ext cx="4206240" cy="411480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62672" y="2148840"/>
            <a:ext cx="3840480" cy="1371600"/>
          </a:xfrm>
          <a:prstGeom prst="rect">
            <a:avLst/>
          </a:prstGeom>
          <a:noFill/>
        </p:spPr>
        <p:txBody>
          <a:bodyPr wrap="square" lIns="0" rIns="0" tIns="0" bIns="0" anchor="t">
            <a:spAutoFit/>
          </a:bodyPr>
          <a:lstStyle/>
          <a:p>
            <a:pPr algn="l">
              <a:lnSpc>
                <a:spcPct val="108000"/>
              </a:lnSpc>
              <a:spcAft>
                <a:spcPts val="800"/>
              </a:spcAft>
            </a:pPr>
            <a:r>
              <a:rPr sz="1800" b="1" i="0">
                <a:solidFill>
                  <a:srgbClr val="1C1917"/>
                </a:solidFill>
                <a:latin typeface="Helvetica Neue"/>
              </a:rPr>
              <a:t>69.3%  against  70.5%</a:t>
            </a:r>
          </a:p>
          <a:p>
            <a:pPr algn="l">
              <a:lnSpc>
                <a:spcPct val="108000"/>
              </a:lnSpc>
              <a:spcAft>
                <a:spcPts val="800"/>
              </a:spcAft>
            </a:pPr>
            <a:r>
              <a:rPr sz="1500" b="0" i="0">
                <a:solidFill>
                  <a:srgbClr val="44403C"/>
                </a:solidFill>
                <a:latin typeface="Helvetica Neue"/>
              </a:rPr>
              <a:t>Device 3 at one frame, against all 24. Inside the seed noise.</a:t>
            </a:r>
          </a:p>
        </p:txBody>
      </p:sp>
      <p:sp>
        <p:nvSpPr>
          <p:cNvPr id="10" name="TextBox 9"/>
          <p:cNvSpPr txBox="1"/>
          <p:nvPr/>
        </p:nvSpPr>
        <p:spPr>
          <a:xfrm>
            <a:off x="7662672" y="3794760"/>
            <a:ext cx="3840480" cy="2011680"/>
          </a:xfrm>
          <a:prstGeom prst="rect">
            <a:avLst/>
          </a:prstGeom>
          <a:noFill/>
        </p:spPr>
        <p:txBody>
          <a:bodyPr wrap="square" lIns="0" rIns="0" tIns="0" bIns="0" anchor="t">
            <a:spAutoFit/>
          </a:bodyPr>
          <a:lstStyle/>
          <a:p>
            <a:pPr algn="l">
              <a:lnSpc>
                <a:spcPct val="108000"/>
              </a:lnSpc>
              <a:spcAft>
                <a:spcPts val="800"/>
              </a:spcAft>
            </a:pPr>
            <a:r>
              <a:rPr sz="1800" b="1" i="0">
                <a:solidFill>
                  <a:srgbClr val="16A34A"/>
                </a:solidFill>
                <a:latin typeface="Helvetica Neue"/>
              </a:rPr>
              <a:t>73.2%  against  70.1%</a:t>
            </a:r>
          </a:p>
          <a:p>
            <a:pPr algn="l">
              <a:lnSpc>
                <a:spcPct val="108000"/>
              </a:lnSpc>
              <a:spcAft>
                <a:spcPts val="800"/>
              </a:spcAft>
            </a:pPr>
            <a:r>
              <a:rPr sz="1500" b="0" i="0">
                <a:solidFill>
                  <a:srgbClr val="44403C"/>
                </a:solidFill>
                <a:latin typeface="Helvetica Neue"/>
              </a:rPr>
              <a:t>At nine frames, 0.9 s, device 3 moves and all 24 stays put. Depth pays only on the small array.</a:t>
            </a:r>
          </a:p>
          <a:p>
            <a:pPr algn="l">
              <a:lnSpc>
                <a:spcPct val="108000"/>
              </a:lnSpc>
              <a:spcAft>
                <a:spcPts val="800"/>
              </a:spcAft>
            </a:pPr>
            <a:r>
              <a:rPr sz="1500" b="0" i="0">
                <a:solidFill>
                  <a:srgbClr val="44403C"/>
                </a:solidFill>
                <a:latin typeface="Helvetica Neue"/>
              </a:rPr>
              <a:t>The searched six, best of 106,183 subsets, scores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RESULTS  ·  WHAT THE FRAMES ARE DOING</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History helps where one frame is weak</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10  /  14</a:t>
            </a:r>
          </a:p>
        </p:txBody>
      </p:sp>
      <p:sp>
        <p:nvSpPr>
          <p:cNvPr id="6" name="TextBox 5"/>
          <p:cNvSpPr txBox="1"/>
          <p:nvPr/>
        </p:nvSpPr>
        <p:spPr>
          <a:xfrm>
            <a:off x="502920" y="1280160"/>
            <a:ext cx="11155680" cy="640080"/>
          </a:xfrm>
          <a:prstGeom prst="rect">
            <a:avLst/>
          </a:prstGeom>
          <a:noFill/>
        </p:spPr>
        <p:txBody>
          <a:bodyPr wrap="square" lIns="0" rIns="0" tIns="0" bIns="0" anchor="t">
            <a:spAutoFit/>
          </a:bodyPr>
          <a:lstStyle/>
          <a:p>
            <a:pPr algn="l">
              <a:lnSpc>
                <a:spcPct val="108000"/>
              </a:lnSpc>
              <a:spcAft>
                <a:spcPts val="600"/>
              </a:spcAft>
            </a:pPr>
            <a:r>
              <a:rPr sz="1600" b="0" i="0">
                <a:solidFill>
                  <a:srgbClr val="44403C"/>
                </a:solidFill>
                <a:latin typeface="Helvetica Neue"/>
              </a:rPr>
              <a:t>Same trained weights. The past frames are replaced with a copy of the oldest one we keep, so the only change is how far back the network can see.</a:t>
            </a:r>
          </a:p>
        </p:txBody>
      </p:sp>
      <p:pic>
        <p:nvPicPr>
          <p:cNvPr id="7" name="Picture 6" descr="history_gain.png"/>
          <p:cNvPicPr>
            <a:picLocks noChangeAspect="1"/>
          </p:cNvPicPr>
          <p:nvPr/>
        </p:nvPicPr>
        <p:blipFill>
          <a:blip r:embed="rId2"/>
          <a:stretch>
            <a:fillRect/>
          </a:stretch>
        </p:blipFill>
        <p:spPr>
          <a:xfrm>
            <a:off x="365760" y="1965960"/>
            <a:ext cx="6949440" cy="2958208"/>
          </a:xfrm>
          <a:prstGeom prst="rect">
            <a:avLst/>
          </a:prstGeom>
        </p:spPr>
      </p:pic>
      <p:sp>
        <p:nvSpPr>
          <p:cNvPr id="8" name="Rounded Rectangle 7"/>
          <p:cNvSpPr/>
          <p:nvPr/>
        </p:nvSpPr>
        <p:spPr>
          <a:xfrm>
            <a:off x="7498079" y="2103120"/>
            <a:ext cx="4160520" cy="39319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99248" y="2286000"/>
            <a:ext cx="3794760" cy="365760"/>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Device 3, nine frames</a:t>
            </a:r>
          </a:p>
        </p:txBody>
      </p:sp>
      <p:sp>
        <p:nvSpPr>
          <p:cNvPr id="10" name="TextBox 9"/>
          <p:cNvSpPr txBox="1"/>
          <p:nvPr/>
        </p:nvSpPr>
        <p:spPr>
          <a:xfrm>
            <a:off x="7699248" y="2788920"/>
            <a:ext cx="3794760" cy="3017520"/>
          </a:xfrm>
          <a:prstGeom prst="rect">
            <a:avLst/>
          </a:prstGeom>
          <a:noFill/>
        </p:spPr>
        <p:txBody>
          <a:bodyPr wrap="square" lIns="0" rIns="0" tIns="0" bIns="0" anchor="t">
            <a:spAutoFit/>
          </a:bodyPr>
          <a:lstStyle/>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Same weights, past deleted: 5.1 points. p = 0.0007 is this comparison. A drop that steady is very unlikely if the past did nothing.</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The gain is +0.5 inside 30 m and +21.8 at 90–120 m.</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Shuffling or reversing the frames costs about 0.2. The cue is persistence, not order.</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The climb ends near 0.8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AFTER THE NETWORK</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A jump the aircraft cannot make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11  /  14</a:t>
            </a:r>
          </a:p>
        </p:txBody>
      </p:sp>
      <p:pic>
        <p:nvPicPr>
          <p:cNvPr id="6" name="Picture 5" descr="filter_sky.gif"/>
          <p:cNvPicPr>
            <a:picLocks noChangeAspect="1"/>
          </p:cNvPicPr>
          <p:nvPr/>
        </p:nvPicPr>
        <p:blipFill>
          <a:blip r:embed="rId2"/>
          <a:stretch>
            <a:fillRect/>
          </a:stretch>
        </p:blipFill>
        <p:spPr>
          <a:xfrm>
            <a:off x="320040" y="1298448"/>
            <a:ext cx="5852160" cy="3978054"/>
          </a:xfrm>
          <a:prstGeom prst="rect">
            <a:avLst/>
          </a:prstGeom>
        </p:spPr>
      </p:pic>
      <p:sp>
        <p:nvSpPr>
          <p:cNvPr id="7" name="TextBox 6"/>
          <p:cNvSpPr txBox="1"/>
          <p:nvPr/>
        </p:nvSpPr>
        <p:spPr>
          <a:xfrm>
            <a:off x="365760" y="5349240"/>
            <a:ext cx="576072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Eight seconds, about 56 m out. Orange is the network on a sidelobe. Green is the filter, held inside 10° of GPS.</a:t>
            </a:r>
          </a:p>
        </p:txBody>
      </p:sp>
      <p:sp>
        <p:nvSpPr>
          <p:cNvPr id="8" name="Rounded Rectangle 7"/>
          <p:cNvSpPr/>
          <p:nvPr/>
        </p:nvSpPr>
        <p:spPr>
          <a:xfrm>
            <a:off x="6355080" y="1298448"/>
            <a:ext cx="5349240" cy="48920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65392" y="1444752"/>
            <a:ext cx="4983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rule</a:t>
            </a:r>
          </a:p>
        </p:txBody>
      </p:sp>
      <p:sp>
        <p:nvSpPr>
          <p:cNvPr id="10" name="TextBox 9"/>
          <p:cNvSpPr txBox="1"/>
          <p:nvPr/>
        </p:nvSpPr>
        <p:spPr>
          <a:xfrm>
            <a:off x="6565392" y="1828800"/>
            <a:ext cx="4983480" cy="155448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Sport mode is 21 m/s, so 2.1 m in one frame. The cap is that distance as a sky angle at the GPS range, plus one 4° cell. Inside it, the direction updates at once. Outside it, only after 0.5 s of agreement.</a:t>
            </a:r>
          </a:p>
        </p:txBody>
      </p:sp>
      <p:sp>
        <p:nvSpPr>
          <p:cNvPr id="11" name="TextBox 10"/>
          <p:cNvSpPr txBox="1"/>
          <p:nvPr/>
        </p:nvSpPr>
        <p:spPr>
          <a:xfrm>
            <a:off x="6565392" y="3520440"/>
            <a:ext cx="4983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What it changes</a:t>
            </a:r>
          </a:p>
        </p:txBody>
      </p:sp>
      <p:sp>
        <p:nvSpPr>
          <p:cNvPr id="12" name="TextBox 11"/>
          <p:cNvSpPr txBox="1"/>
          <p:nvPr/>
        </p:nvSpPr>
        <p:spPr>
          <a:xfrm>
            <a:off x="6565392" y="3913632"/>
            <a:ext cx="4937760" cy="2011680"/>
          </a:xfrm>
          <a:prstGeom prst="rect">
            <a:avLst/>
          </a:prstGeom>
          <a:noFill/>
        </p:spPr>
        <p:txBody>
          <a:bodyPr wrap="square" lIns="0" rIns="0" tIns="0" bIns="0" anchor="t">
            <a:spAutoFit/>
          </a:bodyPr>
          <a:lstStyle/>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One frame, matched site. 24 microphones go from 70% to 76%. Device 3 goes from 69% to 75%.</a:t>
            </a:r>
          </a:p>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Inside 30 m the cells do not move. The gain is farther out.</a:t>
            </a:r>
          </a:p>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At nine frames, device 3 stays at 73%. The stack had already learned the smoothness.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AGAINST THE PAPER</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Their mean error, on the frames they keep</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12  /  14</a:t>
            </a:r>
          </a:p>
        </p:txBody>
      </p:sp>
      <p:sp>
        <p:nvSpPr>
          <p:cNvPr id="6" name="TextBox 5"/>
          <p:cNvSpPr txBox="1"/>
          <p:nvPr/>
        </p:nvSpPr>
        <p:spPr>
          <a:xfrm>
            <a:off x="502920" y="1298448"/>
            <a:ext cx="11155680" cy="5029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Matched site. Their bins. U-Net rows are frames whose last three directions already agree within 10°. Delay-and-sum is every frame. Our U-Net cells are the range over three seeds.</a:t>
            </a:r>
          </a:p>
        </p:txBody>
      </p:sp>
      <p:sp>
        <p:nvSpPr>
          <p:cNvPr id="7" name="TextBox 6"/>
          <p:cNvSpPr txBox="1"/>
          <p:nvPr/>
        </p:nvSpPr>
        <p:spPr>
          <a:xfrm>
            <a:off x="502920" y="1965960"/>
            <a:ext cx="4133087" cy="329184"/>
          </a:xfrm>
          <a:prstGeom prst="rect">
            <a:avLst/>
          </a:prstGeom>
          <a:noFill/>
        </p:spPr>
        <p:txBody>
          <a:bodyPr wrap="square" lIns="0" rIns="0" tIns="0" bIns="0" anchor="t">
            <a:spAutoFit/>
          </a:bodyPr>
          <a:lstStyle/>
          <a:p>
            <a:pPr algn="l">
              <a:lnSpc>
                <a:spcPct val="108000"/>
              </a:lnSpc>
              <a:spcAft>
                <a:spcPts val="0"/>
              </a:spcAft>
            </a:pPr>
            <a:r>
              <a:rPr sz="1200" b="1" i="0">
                <a:solidFill>
                  <a:srgbClr val="78716C"/>
                </a:solidFill>
                <a:latin typeface="Helvetica Neue"/>
              </a:rPr>
              <a:t>Mean angular error</a:t>
            </a:r>
          </a:p>
        </p:txBody>
      </p:sp>
      <p:sp>
        <p:nvSpPr>
          <p:cNvPr id="8" name="TextBox 7"/>
          <p:cNvSpPr txBox="1"/>
          <p:nvPr/>
        </p:nvSpPr>
        <p:spPr>
          <a:xfrm>
            <a:off x="4709159" y="1965960"/>
            <a:ext cx="175564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0–50 m</a:t>
            </a:r>
          </a:p>
        </p:txBody>
      </p:sp>
      <p:sp>
        <p:nvSpPr>
          <p:cNvPr id="9" name="TextBox 8"/>
          <p:cNvSpPr txBox="1"/>
          <p:nvPr/>
        </p:nvSpPr>
        <p:spPr>
          <a:xfrm>
            <a:off x="6537959" y="1965960"/>
            <a:ext cx="175564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50–100 m</a:t>
            </a:r>
          </a:p>
        </p:txBody>
      </p:sp>
      <p:sp>
        <p:nvSpPr>
          <p:cNvPr id="10" name="TextBox 9"/>
          <p:cNvSpPr txBox="1"/>
          <p:nvPr/>
        </p:nvSpPr>
        <p:spPr>
          <a:xfrm>
            <a:off x="8366759" y="1965960"/>
            <a:ext cx="2029967"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100–200 m</a:t>
            </a:r>
          </a:p>
        </p:txBody>
      </p:sp>
      <p:cxnSp>
        <p:nvCxnSpPr>
          <p:cNvPr id="11" name="Connector 10"/>
          <p:cNvCxnSpPr/>
          <p:nvPr/>
        </p:nvCxnSpPr>
        <p:spPr>
          <a:xfrm>
            <a:off x="502920" y="2331720"/>
            <a:ext cx="9966960" cy="0"/>
          </a:xfrm>
          <a:prstGeom prst="line">
            <a:avLst/>
          </a:prstGeom>
          <a:ln w="12700">
            <a:solidFill>
              <a:srgbClr val="78716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2423160"/>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Paper, delay-and-sum</a:t>
            </a:r>
          </a:p>
        </p:txBody>
      </p:sp>
      <p:sp>
        <p:nvSpPr>
          <p:cNvPr id="13" name="TextBox 12"/>
          <p:cNvSpPr txBox="1"/>
          <p:nvPr/>
        </p:nvSpPr>
        <p:spPr>
          <a:xfrm>
            <a:off x="4709159" y="2423160"/>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38°</a:t>
            </a:r>
          </a:p>
        </p:txBody>
      </p:sp>
      <p:sp>
        <p:nvSpPr>
          <p:cNvPr id="14" name="TextBox 13"/>
          <p:cNvSpPr txBox="1"/>
          <p:nvPr/>
        </p:nvSpPr>
        <p:spPr>
          <a:xfrm>
            <a:off x="6537959" y="2423160"/>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75°</a:t>
            </a:r>
          </a:p>
        </p:txBody>
      </p:sp>
      <p:sp>
        <p:nvSpPr>
          <p:cNvPr id="15" name="TextBox 14"/>
          <p:cNvSpPr txBox="1"/>
          <p:nvPr/>
        </p:nvSpPr>
        <p:spPr>
          <a:xfrm>
            <a:off x="8366759" y="2423160"/>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33°</a:t>
            </a:r>
          </a:p>
        </p:txBody>
      </p:sp>
      <p:cxnSp>
        <p:nvCxnSpPr>
          <p:cNvPr id="16" name="Connector 15"/>
          <p:cNvCxnSpPr/>
          <p:nvPr/>
        </p:nvCxnSpPr>
        <p:spPr>
          <a:xfrm>
            <a:off x="502920" y="2898648"/>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2953512"/>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Ours, delay-and-sum, 24</a:t>
            </a:r>
          </a:p>
        </p:txBody>
      </p:sp>
      <p:sp>
        <p:nvSpPr>
          <p:cNvPr id="18" name="TextBox 17"/>
          <p:cNvSpPr txBox="1"/>
          <p:nvPr/>
        </p:nvSpPr>
        <p:spPr>
          <a:xfrm>
            <a:off x="4709159" y="2953512"/>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40°</a:t>
            </a:r>
          </a:p>
        </p:txBody>
      </p:sp>
      <p:sp>
        <p:nvSpPr>
          <p:cNvPr id="19" name="TextBox 18"/>
          <p:cNvSpPr txBox="1"/>
          <p:nvPr/>
        </p:nvSpPr>
        <p:spPr>
          <a:xfrm>
            <a:off x="6537959" y="2953512"/>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72°</a:t>
            </a:r>
          </a:p>
        </p:txBody>
      </p:sp>
      <p:sp>
        <p:nvSpPr>
          <p:cNvPr id="20" name="TextBox 19"/>
          <p:cNvSpPr txBox="1"/>
          <p:nvPr/>
        </p:nvSpPr>
        <p:spPr>
          <a:xfrm>
            <a:off x="8366759" y="2953512"/>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31°</a:t>
            </a:r>
          </a:p>
        </p:txBody>
      </p:sp>
      <p:cxnSp>
        <p:nvCxnSpPr>
          <p:cNvPr id="21" name="Connector 20"/>
          <p:cNvCxnSpPr/>
          <p:nvPr/>
        </p:nvCxnSpPr>
        <p:spPr>
          <a:xfrm>
            <a:off x="502920" y="3429000"/>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2920" y="3483863"/>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Paper, U-Net</a:t>
            </a:r>
          </a:p>
        </p:txBody>
      </p:sp>
      <p:sp>
        <p:nvSpPr>
          <p:cNvPr id="23" name="TextBox 22"/>
          <p:cNvSpPr txBox="1"/>
          <p:nvPr/>
        </p:nvSpPr>
        <p:spPr>
          <a:xfrm>
            <a:off x="4709159" y="3483863"/>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10°</a:t>
            </a:r>
          </a:p>
        </p:txBody>
      </p:sp>
      <p:sp>
        <p:nvSpPr>
          <p:cNvPr id="24" name="TextBox 23"/>
          <p:cNvSpPr txBox="1"/>
          <p:nvPr/>
        </p:nvSpPr>
        <p:spPr>
          <a:xfrm>
            <a:off x="6537959" y="3483863"/>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13°</a:t>
            </a:r>
          </a:p>
        </p:txBody>
      </p:sp>
      <p:sp>
        <p:nvSpPr>
          <p:cNvPr id="25" name="TextBox 24"/>
          <p:cNvSpPr txBox="1"/>
          <p:nvPr/>
        </p:nvSpPr>
        <p:spPr>
          <a:xfrm>
            <a:off x="8366759" y="3483863"/>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14°</a:t>
            </a:r>
          </a:p>
        </p:txBody>
      </p:sp>
      <p:cxnSp>
        <p:nvCxnSpPr>
          <p:cNvPr id="26" name="Connector 25"/>
          <p:cNvCxnSpPr/>
          <p:nvPr/>
        </p:nvCxnSpPr>
        <p:spPr>
          <a:xfrm>
            <a:off x="502920" y="3959352"/>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4014215"/>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Ours, U-Net, 24 mics</a:t>
            </a:r>
          </a:p>
        </p:txBody>
      </p:sp>
      <p:sp>
        <p:nvSpPr>
          <p:cNvPr id="28" name="TextBox 27"/>
          <p:cNvSpPr txBox="1"/>
          <p:nvPr/>
        </p:nvSpPr>
        <p:spPr>
          <a:xfrm>
            <a:off x="4709159" y="4014215"/>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7–10°</a:t>
            </a:r>
          </a:p>
        </p:txBody>
      </p:sp>
      <p:sp>
        <p:nvSpPr>
          <p:cNvPr id="29" name="TextBox 28"/>
          <p:cNvSpPr txBox="1"/>
          <p:nvPr/>
        </p:nvSpPr>
        <p:spPr>
          <a:xfrm>
            <a:off x="6537959" y="4014215"/>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9–12°</a:t>
            </a:r>
          </a:p>
        </p:txBody>
      </p:sp>
      <p:sp>
        <p:nvSpPr>
          <p:cNvPr id="30" name="TextBox 29"/>
          <p:cNvSpPr txBox="1"/>
          <p:nvPr/>
        </p:nvSpPr>
        <p:spPr>
          <a:xfrm>
            <a:off x="8366759" y="4014215"/>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31–74°</a:t>
            </a:r>
          </a:p>
        </p:txBody>
      </p:sp>
      <p:sp>
        <p:nvSpPr>
          <p:cNvPr id="31" name="Rounded Rectangle 30"/>
          <p:cNvSpPr/>
          <p:nvPr/>
        </p:nvSpPr>
        <p:spPr>
          <a:xfrm>
            <a:off x="502920" y="4709160"/>
            <a:ext cx="11155680" cy="155448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864608"/>
            <a:ext cx="10744200" cy="1234440"/>
          </a:xfrm>
          <a:prstGeom prst="rect">
            <a:avLst/>
          </a:prstGeom>
          <a:noFill/>
        </p:spPr>
        <p:txBody>
          <a:bodyPr wrap="square" lIns="0" rIns="0" tIns="0" bIns="0" anchor="t">
            <a:spAutoFit/>
          </a:bodyPr>
          <a:lstStyle/>
          <a:p>
            <a:pPr algn="l">
              <a:lnSpc>
                <a:spcPct val="108000"/>
              </a:lnSpc>
              <a:spcAft>
                <a:spcPts val="400"/>
              </a:spcAft>
            </a:pPr>
            <a:r>
              <a:rPr sz="1500" b="1" i="0">
                <a:solidFill>
                  <a:srgbClr val="1C1917"/>
                </a:solidFill>
                <a:latin typeface="Helvetica Neue"/>
              </a:rPr>
              <a:t>Under 100 m we match them, </a:t>
            </a:r>
            <a:r>
              <a:rPr sz="1500" b="0" i="0">
                <a:solidFill>
                  <a:srgbClr val="44403C"/>
                </a:solidFill>
                <a:latin typeface="Helvetica Neue"/>
              </a:rPr>
              <a:t>and we are slightly ahead on the frames they keep. Past 100 m their 14° is still ahead of our 31–74°. The filter is a different cut, and it does not close that gap.</a:t>
            </a:r>
          </a:p>
          <a:p>
            <a:pPr algn="l">
              <a:lnSpc>
                <a:spcPct val="108000"/>
              </a:lnSpc>
              <a:spcAft>
                <a:spcPts val="400"/>
              </a:spcAft>
            </a:pPr>
            <a:r>
              <a:rPr sz="1500" b="1" i="0">
                <a:solidFill>
                  <a:srgbClr val="1C1917"/>
                </a:solidFill>
                <a:latin typeface="Helvetica Neue"/>
              </a:rPr>
              <a:t>The new site is a second look at one short flight. </a:t>
            </a:r>
            <a:r>
              <a:rPr sz="1500" b="0" i="0">
                <a:solidFill>
                  <a:srgbClr val="44403C"/>
                </a:solidFill>
                <a:latin typeface="Helvetica Neue"/>
              </a:rPr>
              <a:t>They lead under 50 m. From 50 m out, device 3 at one frame is 12° and 11° against their 24° and 54°, on 238 frames past 100 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DETECTION</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It learns the recording, not the drone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13  /  14</a:t>
            </a:r>
          </a:p>
        </p:txBody>
      </p:sp>
      <p:sp>
        <p:nvSpPr>
          <p:cNvPr id="6" name="Rounded Rectangle 5"/>
          <p:cNvSpPr/>
          <p:nvPr/>
        </p:nvSpPr>
        <p:spPr>
          <a:xfrm>
            <a:off x="502920" y="1371600"/>
            <a:ext cx="3931920" cy="4754880"/>
          </a:xfrm>
          <a:prstGeom prst="roundRect">
            <a:avLst>
              <a:gd name="adj" fmla="val 8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52044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60A5FA"/>
                </a:solidFill>
                <a:latin typeface="Helvetica Neue"/>
              </a:rPr>
              <a:t>ONE-MIC DETECTOR</a:t>
            </a:r>
          </a:p>
        </p:txBody>
      </p:sp>
      <p:sp>
        <p:nvSpPr>
          <p:cNvPr id="8" name="TextBox 7"/>
          <p:cNvSpPr txBox="1"/>
          <p:nvPr/>
        </p:nvSpPr>
        <p:spPr>
          <a:xfrm>
            <a:off x="731520" y="2011680"/>
            <a:ext cx="3520440" cy="1005840"/>
          </a:xfrm>
          <a:prstGeom prst="rect">
            <a:avLst/>
          </a:prstGeom>
          <a:noFill/>
        </p:spPr>
        <p:txBody>
          <a:bodyPr wrap="square" lIns="0" rIns="0" tIns="0" bIns="0" anchor="t">
            <a:spAutoFit/>
          </a:bodyPr>
          <a:lstStyle/>
          <a:p>
            <a:pPr algn="l">
              <a:lnSpc>
                <a:spcPct val="108000"/>
              </a:lnSpc>
              <a:spcAft>
                <a:spcPts val="600"/>
              </a:spcAft>
            </a:pPr>
            <a:r>
              <a:rPr sz="7200" b="1" i="0">
                <a:solidFill>
                  <a:srgbClr val="F5F5F4"/>
                </a:solidFill>
                <a:latin typeface="Helvetica Neue"/>
              </a:rPr>
              <a:t>0.49</a:t>
            </a:r>
          </a:p>
        </p:txBody>
      </p:sp>
      <p:sp>
        <p:nvSpPr>
          <p:cNvPr id="9" name="TextBox 8"/>
          <p:cNvSpPr txBox="1"/>
          <p:nvPr/>
        </p:nvSpPr>
        <p:spPr>
          <a:xfrm>
            <a:off x="731520" y="3246120"/>
            <a:ext cx="3520440" cy="1234440"/>
          </a:xfrm>
          <a:prstGeom prst="rect">
            <a:avLst/>
          </a:prstGeom>
          <a:noFill/>
        </p:spPr>
        <p:txBody>
          <a:bodyPr wrap="square" lIns="0" rIns="0" tIns="0" bIns="0" anchor="t">
            <a:spAutoFit/>
          </a:bodyPr>
          <a:lstStyle/>
          <a:p>
            <a:pPr algn="l">
              <a:lnSpc>
                <a:spcPct val="112000"/>
              </a:lnSpc>
              <a:spcAft>
                <a:spcPts val="600"/>
              </a:spcAft>
            </a:pPr>
            <a:r>
              <a:rPr sz="1600" b="0" i="0">
                <a:solidFill>
                  <a:srgbClr val="D6D3D1"/>
                </a:solidFill>
                <a:latin typeface="Helvetica Neue"/>
              </a:rPr>
              <a:t>Cross-scene AUROC. Chance is 0.50. One scene held out at a time. ± 0.06.</a:t>
            </a:r>
          </a:p>
        </p:txBody>
      </p:sp>
      <p:sp>
        <p:nvSpPr>
          <p:cNvPr id="10" name="TextBox 9"/>
          <p:cNvSpPr txBox="1"/>
          <p:nvPr/>
        </p:nvSpPr>
        <p:spPr>
          <a:xfrm>
            <a:off x="731520" y="4617720"/>
            <a:ext cx="3520440" cy="1280160"/>
          </a:xfrm>
          <a:prstGeom prst="rect">
            <a:avLst/>
          </a:prstGeom>
          <a:noFill/>
        </p:spPr>
        <p:txBody>
          <a:bodyPr wrap="square" lIns="0" rIns="0" tIns="0" bIns="0" anchor="t">
            <a:spAutoFit/>
          </a:bodyPr>
          <a:lstStyle/>
          <a:p>
            <a:pPr algn="l">
              <a:lnSpc>
                <a:spcPct val="110000"/>
              </a:lnSpc>
              <a:spcAft>
                <a:spcPts val="600"/>
              </a:spcAft>
            </a:pPr>
            <a:r>
              <a:rPr sz="1500" b="0" i="0">
                <a:solidFill>
                  <a:srgbClr val="A8A29E"/>
                </a:solidFill>
                <a:latin typeface="Helvetica Neue"/>
              </a:rPr>
              <a:t>At 95% recall, precision is about 0.79. That is just how often a drone is in the frame.</a:t>
            </a:r>
          </a:p>
        </p:txBody>
      </p:sp>
      <p:sp>
        <p:nvSpPr>
          <p:cNvPr id="11" name="TextBox 10"/>
          <p:cNvSpPr txBox="1"/>
          <p:nvPr/>
        </p:nvSpPr>
        <p:spPr>
          <a:xfrm>
            <a:off x="4709160" y="13716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Three recordings</a:t>
            </a:r>
          </a:p>
        </p:txBody>
      </p:sp>
      <p:sp>
        <p:nvSpPr>
          <p:cNvPr id="12" name="TextBox 11"/>
          <p:cNvSpPr txBox="1"/>
          <p:nvPr/>
        </p:nvSpPr>
        <p:spPr>
          <a:xfrm>
            <a:off x="4709160" y="17556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A scene is one visit's background noise. We have three: 25 November, and two flights on 18 March. More minutes of one field are the same example.</a:t>
            </a:r>
          </a:p>
        </p:txBody>
      </p:sp>
      <p:sp>
        <p:nvSpPr>
          <p:cNvPr id="13" name="TextBox 12"/>
          <p:cNvSpPr txBox="1"/>
          <p:nvPr/>
        </p:nvSpPr>
        <p:spPr>
          <a:xfrm>
            <a:off x="4709160" y="29718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The small model ties the big one</a:t>
            </a:r>
          </a:p>
        </p:txBody>
      </p:sp>
      <p:sp>
        <p:nvSpPr>
          <p:cNvPr id="14" name="TextBox 13"/>
          <p:cNvSpPr txBox="1"/>
          <p:nvPr/>
        </p:nvSpPr>
        <p:spPr>
          <a:xfrm>
            <a:off x="4709160" y="33558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Inside one recording, an 86k-parameter detector scores 0.66, level with the U-Net's presence head. One microphone is 0.68. Averaging all 24 does not help.</a:t>
            </a:r>
          </a:p>
        </p:txBody>
      </p:sp>
      <p:sp>
        <p:nvSpPr>
          <p:cNvPr id="15" name="TextBox 14"/>
          <p:cNvSpPr txBox="1"/>
          <p:nvPr/>
        </p:nvSpPr>
        <p:spPr>
          <a:xfrm>
            <a:off x="4709160" y="45720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A new recording breaks it</a:t>
            </a:r>
          </a:p>
        </p:txBody>
      </p:sp>
      <p:sp>
        <p:nvSpPr>
          <p:cNvPr id="16" name="TextBox 15"/>
          <p:cNvSpPr txBox="1"/>
          <p:nvPr/>
        </p:nvSpPr>
        <p:spPr>
          <a:xfrm>
            <a:off x="4709160" y="49560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Hold out one of the three and the score is 0.49. On the sealed site, averaging 24 microphones gives 0.64, and one microphone is 0.53. That quiet audio is one minute.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WHAT WE WOULD DEFEND</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Three results, and where they stop</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14  /  14</a:t>
            </a:r>
          </a:p>
        </p:txBody>
      </p:sp>
      <p:sp>
        <p:nvSpPr>
          <p:cNvPr id="6" name="TextBox 5"/>
          <p:cNvSpPr txBox="1"/>
          <p:nvPr/>
        </p:nvSpPr>
        <p:spPr>
          <a:xfrm>
            <a:off x="502920" y="1298448"/>
            <a:ext cx="548640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16A34A"/>
                </a:solidFill>
                <a:latin typeface="Helvetica Neue"/>
              </a:rPr>
              <a:t>HOLDS</a:t>
            </a:r>
          </a:p>
        </p:txBody>
      </p:sp>
      <p:sp>
        <p:nvSpPr>
          <p:cNvPr id="7" name="TextBox 6"/>
          <p:cNvSpPr txBox="1"/>
          <p:nvPr/>
        </p:nvSpPr>
        <p:spPr>
          <a:xfrm>
            <a:off x="6263640" y="1298448"/>
            <a:ext cx="548640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D97706"/>
                </a:solidFill>
                <a:latin typeface="Helvetica Neue"/>
              </a:rPr>
              <a:t>STOPS</a:t>
            </a:r>
          </a:p>
        </p:txBody>
      </p:sp>
      <p:sp>
        <p:nvSpPr>
          <p:cNvPr id="8" name="TextBox 7"/>
          <p:cNvSpPr txBox="1"/>
          <p:nvPr/>
        </p:nvSpPr>
        <p:spPr>
          <a:xfrm>
            <a:off x="502920" y="164592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Six match twenty-four</a:t>
            </a:r>
          </a:p>
        </p:txBody>
      </p:sp>
      <p:sp>
        <p:nvSpPr>
          <p:cNvPr id="9" name="TextBox 8"/>
          <p:cNvSpPr txBox="1"/>
          <p:nvPr/>
        </p:nvSpPr>
        <p:spPr>
          <a:xfrm>
            <a:off x="502920" y="195681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One recorder, no shared clock, is level with the full array. On the matched site that is 69.3% against 70.5% at one frame. On the sealed site, device 3 is again not behind.</a:t>
            </a:r>
          </a:p>
        </p:txBody>
      </p:sp>
      <p:sp>
        <p:nvSpPr>
          <p:cNvPr id="10" name="TextBox 9"/>
          <p:cNvSpPr txBox="1"/>
          <p:nvPr/>
        </p:nvSpPr>
        <p:spPr>
          <a:xfrm>
            <a:off x="502920" y="306324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Depth pays where mics are scarce</a:t>
            </a:r>
          </a:p>
        </p:txBody>
      </p:sp>
      <p:sp>
        <p:nvSpPr>
          <p:cNvPr id="11" name="TextBox 10"/>
          <p:cNvSpPr txBox="1"/>
          <p:nvPr/>
        </p:nvSpPr>
        <p:spPr>
          <a:xfrm>
            <a:off x="502920" y="337413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Nine frames take device 3 to 73% and leave all 24 at 70%. The gain sits at 60–120 m. Order does not matter.</a:t>
            </a:r>
          </a:p>
        </p:txBody>
      </p:sp>
      <p:sp>
        <p:nvSpPr>
          <p:cNvPr id="12" name="TextBox 11"/>
          <p:cNvSpPr txBox="1"/>
          <p:nvPr/>
        </p:nvSpPr>
        <p:spPr>
          <a:xfrm>
            <a:off x="502920" y="448056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filter removes lobe hops</a:t>
            </a:r>
          </a:p>
        </p:txBody>
      </p:sp>
      <p:sp>
        <p:nvSpPr>
          <p:cNvPr id="13" name="TextBox 12"/>
          <p:cNvSpPr txBox="1"/>
          <p:nvPr/>
        </p:nvSpPr>
        <p:spPr>
          <a:xfrm>
            <a:off x="502920" y="479145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 one frame it adds about 6 points, all of it past 30 m. Once nine frames are stacked it adds nothing.</a:t>
            </a:r>
          </a:p>
        </p:txBody>
      </p:sp>
      <p:sp>
        <p:nvSpPr>
          <p:cNvPr id="14" name="TextBox 13"/>
          <p:cNvSpPr txBox="1"/>
          <p:nvPr/>
        </p:nvSpPr>
        <p:spPr>
          <a:xfrm>
            <a:off x="6263640" y="164592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Past about 90 m</a:t>
            </a:r>
          </a:p>
        </p:txBody>
      </p:sp>
      <p:sp>
        <p:nvSpPr>
          <p:cNvPr id="15" name="TextBox 14"/>
          <p:cNvSpPr txBox="1"/>
          <p:nvPr/>
        </p:nvSpPr>
        <p:spPr>
          <a:xfrm>
            <a:off x="6263640" y="195681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labelled drone is often quieter than the background. Their stable-frame 14° is still ahead of us there.</a:t>
            </a:r>
          </a:p>
        </p:txBody>
      </p:sp>
      <p:sp>
        <p:nvSpPr>
          <p:cNvPr id="16" name="TextBox 15"/>
          <p:cNvSpPr txBox="1"/>
          <p:nvPr/>
        </p:nvSpPr>
        <p:spPr>
          <a:xfrm>
            <a:off x="6263640" y="306324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Inside 30 m</a:t>
            </a:r>
          </a:p>
        </p:txBody>
      </p:sp>
      <p:sp>
        <p:nvSpPr>
          <p:cNvPr id="17" name="TextBox 16"/>
          <p:cNvSpPr txBox="1"/>
          <p:nvPr/>
        </p:nvSpPr>
        <p:spPr>
          <a:xfrm>
            <a:off x="6263640" y="337413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Worse than the next bin, on both sites. A source metres from a 2 m array is not a plane wave. Untested.</a:t>
            </a:r>
          </a:p>
        </p:txBody>
      </p:sp>
      <p:sp>
        <p:nvSpPr>
          <p:cNvPr id="18" name="TextBox 17"/>
          <p:cNvSpPr txBox="1"/>
          <p:nvPr/>
        </p:nvSpPr>
        <p:spPr>
          <a:xfrm>
            <a:off x="6263640" y="448056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Detection</a:t>
            </a:r>
          </a:p>
        </p:txBody>
      </p:sp>
      <p:sp>
        <p:nvSpPr>
          <p:cNvPr id="19" name="TextBox 18"/>
          <p:cNvSpPr txBox="1"/>
          <p:nvPr/>
        </p:nvSpPr>
        <p:spPr>
          <a:xfrm>
            <a:off x="6263640" y="479145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Three scenes cannot teach what a drone is not. The fix is another afternoon in another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